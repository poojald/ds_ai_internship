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77BABC-071B-488A-9059-F73E0B1A3422}">
  <a:tblStyle styleId="{B477BABC-071B-488A-9059-F73E0B1A34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5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dfb93824e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ddfb93824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ncbi.nlm.nih.gov" TargetMode="External"/><Relationship Id="rId5" Type="http://schemas.openxmlformats.org/officeDocument/2006/relationships/hyperlink" Target="https://www.who.int/news-room/fact-sheets/detail/blindness-and-visual-impairment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7AD"/>
            </a:gs>
            <a:gs pos="100000">
              <a:srgbClr val="FFA9F9"/>
            </a:gs>
          </a:gsLst>
          <a:lin ang="0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4109371" y="491586"/>
            <a:ext cx="4508895" cy="1074229"/>
          </a:xfrm>
          <a:custGeom>
            <a:avLst/>
            <a:gdLst/>
            <a:ahLst/>
            <a:cxnLst/>
            <a:rect l="l" t="t" r="r" b="b"/>
            <a:pathLst>
              <a:path w="4508895" h="1074229" extrusionOk="0">
                <a:moveTo>
                  <a:pt x="0" y="0"/>
                </a:moveTo>
                <a:lnTo>
                  <a:pt x="4508895" y="0"/>
                </a:lnTo>
                <a:lnTo>
                  <a:pt x="4508895" y="1074228"/>
                </a:lnTo>
                <a:lnTo>
                  <a:pt x="0" y="1074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321255" y="269322"/>
            <a:ext cx="3362961" cy="1518756"/>
          </a:xfrm>
          <a:custGeom>
            <a:avLst/>
            <a:gdLst/>
            <a:ahLst/>
            <a:cxnLst/>
            <a:rect l="l" t="t" r="r" b="b"/>
            <a:pathLst>
              <a:path w="3362961" h="1518756" extrusionOk="0">
                <a:moveTo>
                  <a:pt x="0" y="0"/>
                </a:moveTo>
                <a:lnTo>
                  <a:pt x="3362961" y="0"/>
                </a:lnTo>
                <a:lnTo>
                  <a:pt x="3362961" y="1518756"/>
                </a:lnTo>
                <a:lnTo>
                  <a:pt x="0" y="15187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3"/>
          <p:cNvSpPr txBox="1"/>
          <p:nvPr/>
        </p:nvSpPr>
        <p:spPr>
          <a:xfrm>
            <a:off x="741494" y="2887155"/>
            <a:ext cx="17546506" cy="5173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b="1" i="0" u="none" strike="noStrike" cap="none" dirty="0">
                <a:solidFill>
                  <a:srgbClr val="284B71"/>
                </a:solidFill>
                <a:latin typeface="Arial"/>
                <a:ea typeface="Arial"/>
                <a:cs typeface="Arial"/>
                <a:sym typeface="Arial"/>
              </a:rPr>
              <a:t>AI/ML Hackathon 2026</a:t>
            </a:r>
          </a:p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399" b="1" i="0" u="none" strike="noStrike" cap="none" dirty="0">
              <a:solidFill>
                <a:srgbClr val="284B7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b="1" dirty="0">
                <a:solidFill>
                  <a:schemeClr val="tx1"/>
                </a:solidFill>
              </a:rPr>
              <a:t>DIABETES DETECTION USING RETINAL IMAGE ANALYSIS</a:t>
            </a:r>
          </a:p>
          <a:p>
            <a:pPr marL="0" marR="0" lvl="0" indent="0" algn="l" rtl="0">
              <a:lnSpc>
                <a:spcPct val="3304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400" b="1" i="0" u="none" strike="noStrike" cap="none" dirty="0">
              <a:solidFill>
                <a:srgbClr val="ED323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b="1" i="0" u="none" strike="noStrike" cap="none" dirty="0">
                <a:solidFill>
                  <a:srgbClr val="FEA928"/>
                </a:solidFill>
                <a:latin typeface="Arial"/>
                <a:ea typeface="Arial"/>
                <a:cs typeface="Arial"/>
                <a:sym typeface="Arial"/>
              </a:rPr>
              <a:t>2-Day AI/ML Hackathon for Engineering Students</a:t>
            </a:r>
            <a:endParaRPr dirty="0"/>
          </a:p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99" b="1" i="0" u="none" strike="noStrike" cap="none" dirty="0">
              <a:solidFill>
                <a:srgbClr val="FEA9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</p:sp>
      <p:sp>
        <p:nvSpPr>
          <p:cNvPr id="92" name="Google Shape;92;p14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3" name="Google Shape;93;p14"/>
          <p:cNvGrpSpPr/>
          <p:nvPr/>
        </p:nvGrpSpPr>
        <p:grpSpPr>
          <a:xfrm>
            <a:off x="1113756" y="3530943"/>
            <a:ext cx="4439121" cy="1721385"/>
            <a:chOff x="0" y="0"/>
            <a:chExt cx="1169151" cy="453369"/>
          </a:xfrm>
        </p:grpSpPr>
        <p:sp>
          <p:nvSpPr>
            <p:cNvPr id="94" name="Google Shape;94;p14"/>
            <p:cNvSpPr/>
            <p:nvPr/>
          </p:nvSpPr>
          <p:spPr>
            <a:xfrm>
              <a:off x="0" y="0"/>
              <a:ext cx="1169151" cy="453369"/>
            </a:xfrm>
            <a:custGeom>
              <a:avLst/>
              <a:gdLst/>
              <a:ahLst/>
              <a:cxnLst/>
              <a:rect l="l" t="t" r="r" b="b"/>
              <a:pathLst>
                <a:path w="1169151" h="453369" extrusionOk="0">
                  <a:moveTo>
                    <a:pt x="88945" y="0"/>
                  </a:moveTo>
                  <a:lnTo>
                    <a:pt x="1080206" y="0"/>
                  </a:lnTo>
                  <a:cubicBezTo>
                    <a:pt x="1103796" y="0"/>
                    <a:pt x="1126419" y="9371"/>
                    <a:pt x="1143100" y="26051"/>
                  </a:cubicBezTo>
                  <a:cubicBezTo>
                    <a:pt x="1159780" y="42732"/>
                    <a:pt x="1169151" y="65355"/>
                    <a:pt x="1169151" y="88945"/>
                  </a:cubicBezTo>
                  <a:lnTo>
                    <a:pt x="1169151" y="364424"/>
                  </a:lnTo>
                  <a:cubicBezTo>
                    <a:pt x="1169151" y="388013"/>
                    <a:pt x="1159780" y="410637"/>
                    <a:pt x="1143100" y="427317"/>
                  </a:cubicBezTo>
                  <a:cubicBezTo>
                    <a:pt x="1126419" y="443998"/>
                    <a:pt x="1103796" y="453369"/>
                    <a:pt x="1080206" y="453369"/>
                  </a:cubicBezTo>
                  <a:lnTo>
                    <a:pt x="88945" y="453369"/>
                  </a:lnTo>
                  <a:cubicBezTo>
                    <a:pt x="65355" y="453369"/>
                    <a:pt x="42732" y="443998"/>
                    <a:pt x="26051" y="427317"/>
                  </a:cubicBezTo>
                  <a:cubicBezTo>
                    <a:pt x="9371" y="410637"/>
                    <a:pt x="0" y="388013"/>
                    <a:pt x="0" y="364424"/>
                  </a:cubicBezTo>
                  <a:lnTo>
                    <a:pt x="0" y="88945"/>
                  </a:lnTo>
                  <a:cubicBezTo>
                    <a:pt x="0" y="65355"/>
                    <a:pt x="9371" y="42732"/>
                    <a:pt x="26051" y="26051"/>
                  </a:cubicBezTo>
                  <a:cubicBezTo>
                    <a:pt x="42732" y="9371"/>
                    <a:pt x="65355" y="0"/>
                    <a:pt x="88945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4"/>
            <p:cNvSpPr txBox="1"/>
            <p:nvPr/>
          </p:nvSpPr>
          <p:spPr>
            <a:xfrm>
              <a:off x="0" y="76200"/>
              <a:ext cx="1169151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Team Name</a:t>
              </a:r>
              <a:endParaRPr/>
            </a:p>
          </p:txBody>
        </p:sp>
      </p:grpSp>
      <p:sp>
        <p:nvSpPr>
          <p:cNvPr id="96" name="Google Shape;96;p14"/>
          <p:cNvSpPr txBox="1"/>
          <p:nvPr/>
        </p:nvSpPr>
        <p:spPr>
          <a:xfrm>
            <a:off x="1113756" y="1980779"/>
            <a:ext cx="6547670" cy="135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Details</a:t>
            </a:r>
            <a:r>
              <a:rPr lang="en-US" sz="7597" b="1" i="0" u="none" strike="noStrike" cap="none">
                <a:solidFill>
                  <a:srgbClr val="75BF5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marR="0" lvl="0" indent="0" algn="l" rtl="0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597" b="1" i="0" u="none" strike="noStrike" cap="none">
              <a:solidFill>
                <a:srgbClr val="75BF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4"/>
          <p:cNvGrpSpPr/>
          <p:nvPr/>
        </p:nvGrpSpPr>
        <p:grpSpPr>
          <a:xfrm>
            <a:off x="1113756" y="5454569"/>
            <a:ext cx="4439121" cy="1721385"/>
            <a:chOff x="0" y="0"/>
            <a:chExt cx="1169151" cy="453369"/>
          </a:xfrm>
        </p:grpSpPr>
        <p:sp>
          <p:nvSpPr>
            <p:cNvPr id="98" name="Google Shape;98;p14"/>
            <p:cNvSpPr/>
            <p:nvPr/>
          </p:nvSpPr>
          <p:spPr>
            <a:xfrm>
              <a:off x="0" y="0"/>
              <a:ext cx="1169151" cy="453369"/>
            </a:xfrm>
            <a:custGeom>
              <a:avLst/>
              <a:gdLst/>
              <a:ahLst/>
              <a:cxnLst/>
              <a:rect l="l" t="t" r="r" b="b"/>
              <a:pathLst>
                <a:path w="1169151" h="453369" extrusionOk="0">
                  <a:moveTo>
                    <a:pt x="88945" y="0"/>
                  </a:moveTo>
                  <a:lnTo>
                    <a:pt x="1080206" y="0"/>
                  </a:lnTo>
                  <a:cubicBezTo>
                    <a:pt x="1103796" y="0"/>
                    <a:pt x="1126419" y="9371"/>
                    <a:pt x="1143100" y="26051"/>
                  </a:cubicBezTo>
                  <a:cubicBezTo>
                    <a:pt x="1159780" y="42732"/>
                    <a:pt x="1169151" y="65355"/>
                    <a:pt x="1169151" y="88945"/>
                  </a:cubicBezTo>
                  <a:lnTo>
                    <a:pt x="1169151" y="364424"/>
                  </a:lnTo>
                  <a:cubicBezTo>
                    <a:pt x="1169151" y="388013"/>
                    <a:pt x="1159780" y="410637"/>
                    <a:pt x="1143100" y="427317"/>
                  </a:cubicBezTo>
                  <a:cubicBezTo>
                    <a:pt x="1126419" y="443998"/>
                    <a:pt x="1103796" y="453369"/>
                    <a:pt x="1080206" y="453369"/>
                  </a:cubicBezTo>
                  <a:lnTo>
                    <a:pt x="88945" y="453369"/>
                  </a:lnTo>
                  <a:cubicBezTo>
                    <a:pt x="65355" y="453369"/>
                    <a:pt x="42732" y="443998"/>
                    <a:pt x="26051" y="427317"/>
                  </a:cubicBezTo>
                  <a:cubicBezTo>
                    <a:pt x="9371" y="410637"/>
                    <a:pt x="0" y="388013"/>
                    <a:pt x="0" y="364424"/>
                  </a:cubicBezTo>
                  <a:lnTo>
                    <a:pt x="0" y="88945"/>
                  </a:lnTo>
                  <a:cubicBezTo>
                    <a:pt x="0" y="65355"/>
                    <a:pt x="9371" y="42732"/>
                    <a:pt x="26051" y="26051"/>
                  </a:cubicBezTo>
                  <a:cubicBezTo>
                    <a:pt x="42732" y="9371"/>
                    <a:pt x="65355" y="0"/>
                    <a:pt x="88945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0" y="76200"/>
              <a:ext cx="1169151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Team Lead</a:t>
              </a:r>
              <a:endParaRPr/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1113756" y="7375978"/>
            <a:ext cx="4439121" cy="2563443"/>
            <a:chOff x="0" y="0"/>
            <a:chExt cx="1169151" cy="675146"/>
          </a:xfrm>
        </p:grpSpPr>
        <p:sp>
          <p:nvSpPr>
            <p:cNvPr id="101" name="Google Shape;101;p14"/>
            <p:cNvSpPr/>
            <p:nvPr/>
          </p:nvSpPr>
          <p:spPr>
            <a:xfrm>
              <a:off x="0" y="0"/>
              <a:ext cx="1169151" cy="675146"/>
            </a:xfrm>
            <a:custGeom>
              <a:avLst/>
              <a:gdLst/>
              <a:ahLst/>
              <a:cxnLst/>
              <a:rect l="l" t="t" r="r" b="b"/>
              <a:pathLst>
                <a:path w="1169151" h="675146" extrusionOk="0">
                  <a:moveTo>
                    <a:pt x="88945" y="0"/>
                  </a:moveTo>
                  <a:lnTo>
                    <a:pt x="1080206" y="0"/>
                  </a:lnTo>
                  <a:cubicBezTo>
                    <a:pt x="1103796" y="0"/>
                    <a:pt x="1126419" y="9371"/>
                    <a:pt x="1143100" y="26051"/>
                  </a:cubicBezTo>
                  <a:cubicBezTo>
                    <a:pt x="1159780" y="42732"/>
                    <a:pt x="1169151" y="65355"/>
                    <a:pt x="1169151" y="88945"/>
                  </a:cubicBezTo>
                  <a:lnTo>
                    <a:pt x="1169151" y="586200"/>
                  </a:lnTo>
                  <a:cubicBezTo>
                    <a:pt x="1169151" y="609790"/>
                    <a:pt x="1159780" y="632414"/>
                    <a:pt x="1143100" y="649094"/>
                  </a:cubicBezTo>
                  <a:cubicBezTo>
                    <a:pt x="1126419" y="665775"/>
                    <a:pt x="1103796" y="675146"/>
                    <a:pt x="1080206" y="675146"/>
                  </a:cubicBezTo>
                  <a:lnTo>
                    <a:pt x="88945" y="675146"/>
                  </a:lnTo>
                  <a:cubicBezTo>
                    <a:pt x="39822" y="675146"/>
                    <a:pt x="0" y="635323"/>
                    <a:pt x="0" y="586200"/>
                  </a:cubicBezTo>
                  <a:lnTo>
                    <a:pt x="0" y="88945"/>
                  </a:lnTo>
                  <a:cubicBezTo>
                    <a:pt x="0" y="65355"/>
                    <a:pt x="9371" y="42732"/>
                    <a:pt x="26051" y="26051"/>
                  </a:cubicBezTo>
                  <a:cubicBezTo>
                    <a:pt x="42732" y="9371"/>
                    <a:pt x="65355" y="0"/>
                    <a:pt x="88945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0" y="76200"/>
              <a:ext cx="1169151" cy="5989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Team Members</a:t>
              </a:r>
              <a:endParaRPr/>
            </a:p>
          </p:txBody>
        </p:sp>
      </p:grpSp>
      <p:grpSp>
        <p:nvGrpSpPr>
          <p:cNvPr id="103" name="Google Shape;103;p14"/>
          <p:cNvGrpSpPr/>
          <p:nvPr/>
        </p:nvGrpSpPr>
        <p:grpSpPr>
          <a:xfrm>
            <a:off x="5737776" y="3530943"/>
            <a:ext cx="11088478" cy="1721385"/>
            <a:chOff x="0" y="0"/>
            <a:chExt cx="2920422" cy="453369"/>
          </a:xfrm>
        </p:grpSpPr>
        <p:sp>
          <p:nvSpPr>
            <p:cNvPr id="104" name="Google Shape;104;p14"/>
            <p:cNvSpPr/>
            <p:nvPr/>
          </p:nvSpPr>
          <p:spPr>
            <a:xfrm>
              <a:off x="0" y="0"/>
              <a:ext cx="2920422" cy="453369"/>
            </a:xfrm>
            <a:custGeom>
              <a:avLst/>
              <a:gdLst/>
              <a:ahLst/>
              <a:cxnLst/>
              <a:rect l="l" t="t" r="r" b="b"/>
              <a:pathLst>
                <a:path w="2920422" h="453369" extrusionOk="0">
                  <a:moveTo>
                    <a:pt x="35608" y="0"/>
                  </a:moveTo>
                  <a:lnTo>
                    <a:pt x="2884814" y="0"/>
                  </a:lnTo>
                  <a:cubicBezTo>
                    <a:pt x="2904480" y="0"/>
                    <a:pt x="2920422" y="15942"/>
                    <a:pt x="2920422" y="35608"/>
                  </a:cubicBezTo>
                  <a:lnTo>
                    <a:pt x="2920422" y="417761"/>
                  </a:lnTo>
                  <a:cubicBezTo>
                    <a:pt x="2920422" y="437427"/>
                    <a:pt x="2904480" y="453369"/>
                    <a:pt x="2884814" y="453369"/>
                  </a:cubicBezTo>
                  <a:lnTo>
                    <a:pt x="35608" y="453369"/>
                  </a:lnTo>
                  <a:cubicBezTo>
                    <a:pt x="15942" y="453369"/>
                    <a:pt x="0" y="437427"/>
                    <a:pt x="0" y="417761"/>
                  </a:cubicBezTo>
                  <a:lnTo>
                    <a:pt x="0" y="35608"/>
                  </a:lnTo>
                  <a:cubicBezTo>
                    <a:pt x="0" y="15942"/>
                    <a:pt x="15942" y="0"/>
                    <a:pt x="35608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0" y="76200"/>
              <a:ext cx="2920422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284B71"/>
                  </a:solidFill>
                </a:rPr>
                <a:t>Neural Ninjas</a:t>
              </a:r>
              <a:endParaRPr/>
            </a:p>
          </p:txBody>
        </p:sp>
      </p:grpSp>
      <p:grpSp>
        <p:nvGrpSpPr>
          <p:cNvPr id="106" name="Google Shape;106;p14"/>
          <p:cNvGrpSpPr/>
          <p:nvPr/>
        </p:nvGrpSpPr>
        <p:grpSpPr>
          <a:xfrm>
            <a:off x="5737776" y="5454569"/>
            <a:ext cx="11088478" cy="1721385"/>
            <a:chOff x="0" y="0"/>
            <a:chExt cx="2920422" cy="453369"/>
          </a:xfrm>
        </p:grpSpPr>
        <p:sp>
          <p:nvSpPr>
            <p:cNvPr id="107" name="Google Shape;107;p14"/>
            <p:cNvSpPr/>
            <p:nvPr/>
          </p:nvSpPr>
          <p:spPr>
            <a:xfrm>
              <a:off x="0" y="0"/>
              <a:ext cx="2920422" cy="453369"/>
            </a:xfrm>
            <a:custGeom>
              <a:avLst/>
              <a:gdLst/>
              <a:ahLst/>
              <a:cxnLst/>
              <a:rect l="l" t="t" r="r" b="b"/>
              <a:pathLst>
                <a:path w="2920422" h="453369" extrusionOk="0">
                  <a:moveTo>
                    <a:pt x="35608" y="0"/>
                  </a:moveTo>
                  <a:lnTo>
                    <a:pt x="2884814" y="0"/>
                  </a:lnTo>
                  <a:cubicBezTo>
                    <a:pt x="2904480" y="0"/>
                    <a:pt x="2920422" y="15942"/>
                    <a:pt x="2920422" y="35608"/>
                  </a:cubicBezTo>
                  <a:lnTo>
                    <a:pt x="2920422" y="417761"/>
                  </a:lnTo>
                  <a:cubicBezTo>
                    <a:pt x="2920422" y="437427"/>
                    <a:pt x="2904480" y="453369"/>
                    <a:pt x="2884814" y="453369"/>
                  </a:cubicBezTo>
                  <a:lnTo>
                    <a:pt x="35608" y="453369"/>
                  </a:lnTo>
                  <a:cubicBezTo>
                    <a:pt x="15942" y="453369"/>
                    <a:pt x="0" y="437427"/>
                    <a:pt x="0" y="417761"/>
                  </a:cubicBezTo>
                  <a:lnTo>
                    <a:pt x="0" y="35608"/>
                  </a:lnTo>
                  <a:cubicBezTo>
                    <a:pt x="0" y="15942"/>
                    <a:pt x="15942" y="0"/>
                    <a:pt x="35608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0" y="76200"/>
              <a:ext cx="2920422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284B71"/>
                  </a:solidFill>
                </a:rPr>
                <a:t>Pooja Wandimali</a:t>
              </a:r>
              <a:endParaRPr/>
            </a:p>
          </p:txBody>
        </p:sp>
      </p:grpSp>
      <p:grpSp>
        <p:nvGrpSpPr>
          <p:cNvPr id="109" name="Google Shape;109;p14"/>
          <p:cNvGrpSpPr/>
          <p:nvPr/>
        </p:nvGrpSpPr>
        <p:grpSpPr>
          <a:xfrm>
            <a:off x="5737776" y="7158987"/>
            <a:ext cx="11088478" cy="2780434"/>
            <a:chOff x="0" y="-57150"/>
            <a:chExt cx="2920422" cy="732296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0"/>
              <a:ext cx="2920422" cy="675146"/>
            </a:xfrm>
            <a:custGeom>
              <a:avLst/>
              <a:gdLst/>
              <a:ahLst/>
              <a:cxnLst/>
              <a:rect l="l" t="t" r="r" b="b"/>
              <a:pathLst>
                <a:path w="2920422" h="675146" extrusionOk="0">
                  <a:moveTo>
                    <a:pt x="35608" y="0"/>
                  </a:moveTo>
                  <a:lnTo>
                    <a:pt x="2884814" y="0"/>
                  </a:lnTo>
                  <a:cubicBezTo>
                    <a:pt x="2904480" y="0"/>
                    <a:pt x="2920422" y="15942"/>
                    <a:pt x="2920422" y="35608"/>
                  </a:cubicBezTo>
                  <a:lnTo>
                    <a:pt x="2920422" y="639538"/>
                  </a:lnTo>
                  <a:cubicBezTo>
                    <a:pt x="2920422" y="659203"/>
                    <a:pt x="2904480" y="675146"/>
                    <a:pt x="2884814" y="675146"/>
                  </a:cubicBezTo>
                  <a:lnTo>
                    <a:pt x="35608" y="675146"/>
                  </a:lnTo>
                  <a:cubicBezTo>
                    <a:pt x="15942" y="675146"/>
                    <a:pt x="0" y="659203"/>
                    <a:pt x="0" y="639538"/>
                  </a:cubicBezTo>
                  <a:lnTo>
                    <a:pt x="0" y="35608"/>
                  </a:lnTo>
                  <a:cubicBezTo>
                    <a:pt x="0" y="15942"/>
                    <a:pt x="15942" y="0"/>
                    <a:pt x="35608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0" y="-57150"/>
              <a:ext cx="2920422" cy="7322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9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284B71"/>
                  </a:solidFill>
                </a:rPr>
                <a:t>Pooja Dematti</a:t>
              </a:r>
              <a:endParaRPr/>
            </a:p>
            <a:p>
              <a:pPr marL="0" marR="0" lvl="0" indent="0" algn="ctr" rtl="0">
                <a:lnSpc>
                  <a:spcPct val="139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284B71"/>
                  </a:solidFill>
                </a:rPr>
                <a:t>Simran Nadaf</a:t>
              </a:r>
              <a:endParaRPr/>
            </a:p>
            <a:p>
              <a:pPr marL="0" marR="0" lvl="0" indent="0" algn="ctr" rtl="0">
                <a:lnSpc>
                  <a:spcPct val="139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284B71"/>
                  </a:solidFill>
                </a:rPr>
                <a:t>Mohammad Tohid Jamadar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</p:sp>
      <p:sp>
        <p:nvSpPr>
          <p:cNvPr id="117" name="Google Shape;117;p15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18" name="Google Shape;118;p15"/>
          <p:cNvGrpSpPr/>
          <p:nvPr/>
        </p:nvGrpSpPr>
        <p:grpSpPr>
          <a:xfrm>
            <a:off x="1028700" y="3600450"/>
            <a:ext cx="16230600" cy="5657850"/>
            <a:chOff x="0" y="0"/>
            <a:chExt cx="4274726" cy="1490133"/>
          </a:xfrm>
        </p:grpSpPr>
        <p:sp>
          <p:nvSpPr>
            <p:cNvPr id="119" name="Google Shape;119;p15"/>
            <p:cNvSpPr/>
            <p:nvPr/>
          </p:nvSpPr>
          <p:spPr>
            <a:xfrm>
              <a:off x="0" y="0"/>
              <a:ext cx="4274726" cy="1490133"/>
            </a:xfrm>
            <a:custGeom>
              <a:avLst/>
              <a:gdLst/>
              <a:ahLst/>
              <a:cxnLst/>
              <a:rect l="l" t="t" r="r" b="b"/>
              <a:pathLst>
                <a:path w="4274726" h="1490133" extrusionOk="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465807"/>
                  </a:lnTo>
                  <a:cubicBezTo>
                    <a:pt x="4274726" y="1472258"/>
                    <a:pt x="4272163" y="1478446"/>
                    <a:pt x="4267601" y="1483008"/>
                  </a:cubicBezTo>
                  <a:cubicBezTo>
                    <a:pt x="4263039" y="1487570"/>
                    <a:pt x="4256851" y="1490133"/>
                    <a:pt x="4250399" y="1490133"/>
                  </a:cubicBezTo>
                  <a:lnTo>
                    <a:pt x="24327" y="1490133"/>
                  </a:lnTo>
                  <a:cubicBezTo>
                    <a:pt x="10891" y="1490133"/>
                    <a:pt x="0" y="1479242"/>
                    <a:pt x="0" y="146580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0" y="152400"/>
              <a:ext cx="4274726" cy="1337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00" b="1">
                  <a:solidFill>
                    <a:srgbClr val="284B71"/>
                  </a:solidFill>
                </a:rPr>
                <a:t>To classify the stages of Diabetic Retinopathy (No DR, Mild, Moderate, Severe, Proliferative) using retinal images.</a:t>
              </a:r>
              <a:endParaRPr/>
            </a:p>
          </p:txBody>
        </p:sp>
      </p:grpSp>
      <p:sp>
        <p:nvSpPr>
          <p:cNvPr id="121" name="Google Shape;121;p15"/>
          <p:cNvSpPr txBox="1"/>
          <p:nvPr/>
        </p:nvSpPr>
        <p:spPr>
          <a:xfrm>
            <a:off x="1028700" y="2180804"/>
            <a:ext cx="4492160" cy="135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en-US" sz="7597" b="1" i="0" u="none" strike="noStrike" cap="none">
                <a:solidFill>
                  <a:srgbClr val="75BF5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marR="0" lvl="0" indent="0" algn="l" rtl="0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597" b="1" i="0" u="none" strike="noStrike" cap="none">
              <a:solidFill>
                <a:srgbClr val="75BF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" name="Google Shape;122;p15"/>
          <p:cNvGrpSpPr/>
          <p:nvPr/>
        </p:nvGrpSpPr>
        <p:grpSpPr>
          <a:xfrm>
            <a:off x="1028700" y="3600450"/>
            <a:ext cx="3114778" cy="1135971"/>
            <a:chOff x="0" y="0"/>
            <a:chExt cx="820353" cy="299186"/>
          </a:xfrm>
        </p:grpSpPr>
        <p:sp>
          <p:nvSpPr>
            <p:cNvPr id="123" name="Google Shape;123;p15"/>
            <p:cNvSpPr/>
            <p:nvPr/>
          </p:nvSpPr>
          <p:spPr>
            <a:xfrm>
              <a:off x="0" y="0"/>
              <a:ext cx="820353" cy="299186"/>
            </a:xfrm>
            <a:custGeom>
              <a:avLst/>
              <a:gdLst/>
              <a:ahLst/>
              <a:cxnLst/>
              <a:rect l="l" t="t" r="r" b="b"/>
              <a:pathLst>
                <a:path w="820353" h="299186" extrusionOk="0">
                  <a:moveTo>
                    <a:pt x="126763" y="0"/>
                  </a:moveTo>
                  <a:lnTo>
                    <a:pt x="693590" y="0"/>
                  </a:lnTo>
                  <a:cubicBezTo>
                    <a:pt x="763599" y="0"/>
                    <a:pt x="820353" y="56754"/>
                    <a:pt x="820353" y="126763"/>
                  </a:cubicBezTo>
                  <a:lnTo>
                    <a:pt x="820353" y="172423"/>
                  </a:lnTo>
                  <a:cubicBezTo>
                    <a:pt x="820353" y="206043"/>
                    <a:pt x="806998" y="238285"/>
                    <a:pt x="783225" y="262058"/>
                  </a:cubicBezTo>
                  <a:cubicBezTo>
                    <a:pt x="759452" y="285830"/>
                    <a:pt x="727210" y="299186"/>
                    <a:pt x="693590" y="299186"/>
                  </a:cubicBezTo>
                  <a:lnTo>
                    <a:pt x="126763" y="299186"/>
                  </a:lnTo>
                  <a:cubicBezTo>
                    <a:pt x="56754" y="299186"/>
                    <a:pt x="0" y="242432"/>
                    <a:pt x="0" y="172423"/>
                  </a:cubicBezTo>
                  <a:lnTo>
                    <a:pt x="0" y="126763"/>
                  </a:lnTo>
                  <a:cubicBezTo>
                    <a:pt x="0" y="93143"/>
                    <a:pt x="13355" y="60901"/>
                    <a:pt x="37128" y="37128"/>
                  </a:cubicBezTo>
                  <a:cubicBezTo>
                    <a:pt x="60901" y="13355"/>
                    <a:pt x="93143" y="0"/>
                    <a:pt x="12676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0" y="57150"/>
              <a:ext cx="820353" cy="242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3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0"/>
            </a:stretch>
          </a:blipFill>
          <a:ln>
            <a:noFill/>
          </a:ln>
        </p:spPr>
      </p:sp>
      <p:sp>
        <p:nvSpPr>
          <p:cNvPr id="130" name="Google Shape;130;p16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31" name="Google Shape;131;p16"/>
          <p:cNvGrpSpPr/>
          <p:nvPr/>
        </p:nvGrpSpPr>
        <p:grpSpPr>
          <a:xfrm>
            <a:off x="1113756" y="3530943"/>
            <a:ext cx="11699388" cy="1721397"/>
            <a:chOff x="0" y="0"/>
            <a:chExt cx="3081300" cy="453369"/>
          </a:xfrm>
        </p:grpSpPr>
        <p:sp>
          <p:nvSpPr>
            <p:cNvPr id="132" name="Google Shape;132;p16"/>
            <p:cNvSpPr/>
            <p:nvPr/>
          </p:nvSpPr>
          <p:spPr>
            <a:xfrm>
              <a:off x="0" y="0"/>
              <a:ext cx="3081170" cy="453369"/>
            </a:xfrm>
            <a:custGeom>
              <a:avLst/>
              <a:gdLst/>
              <a:ahLst/>
              <a:cxnLst/>
              <a:rect l="l" t="t" r="r" b="b"/>
              <a:pathLst>
                <a:path w="3081170" h="453369" extrusionOk="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0" y="76200"/>
              <a:ext cx="3081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FEA928"/>
                  </a:solidFill>
                </a:rPr>
                <a:t>Diabetic Retinopathy is one of the leading causes of blindness among working-age adults worldwide, and many cases go undetected due to lack of early screening.</a:t>
              </a: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</p:grpSp>
      <p:sp>
        <p:nvSpPr>
          <p:cNvPr id="134" name="Google Shape;134;p16"/>
          <p:cNvSpPr txBox="1"/>
          <p:nvPr/>
        </p:nvSpPr>
        <p:spPr>
          <a:xfrm>
            <a:off x="1113756" y="1980779"/>
            <a:ext cx="14622300" cy="13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Proofs </a:t>
            </a:r>
            <a:r>
              <a:rPr lang="en-US" sz="759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r>
              <a:rPr lang="en-US" sz="7597" b="1" i="0" u="none" strike="noStrike" cap="none">
                <a:solidFill>
                  <a:srgbClr val="75BF5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marR="0" lvl="0" indent="0" algn="l" rtl="0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597" b="1" i="0" u="none" strike="noStrike" cap="none">
              <a:solidFill>
                <a:srgbClr val="75BF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" name="Google Shape;135;p16"/>
          <p:cNvGrpSpPr/>
          <p:nvPr/>
        </p:nvGrpSpPr>
        <p:grpSpPr>
          <a:xfrm>
            <a:off x="13138424" y="3530943"/>
            <a:ext cx="3688309" cy="1721397"/>
            <a:chOff x="-3" y="0"/>
            <a:chExt cx="971400" cy="453369"/>
          </a:xfrm>
        </p:grpSpPr>
        <p:sp>
          <p:nvSpPr>
            <p:cNvPr id="136" name="Google Shape;136;p16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-3" y="76202"/>
              <a:ext cx="9714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u="sng">
                  <a:solidFill>
                    <a:schemeClr val="hlink"/>
                  </a:solidFill>
                  <a:hlinkClick r:id="rId5"/>
                </a:rPr>
                <a:t>https://www.who.int/news-room/fact-sheets/detail/blindness-and-visual-impairment</a:t>
              </a:r>
              <a:endParaRPr sz="2600"/>
            </a:p>
          </p:txBody>
        </p:sp>
      </p:grpSp>
      <p:grpSp>
        <p:nvGrpSpPr>
          <p:cNvPr id="138" name="Google Shape;138;p16"/>
          <p:cNvGrpSpPr/>
          <p:nvPr/>
        </p:nvGrpSpPr>
        <p:grpSpPr>
          <a:xfrm>
            <a:off x="13138436" y="5454569"/>
            <a:ext cx="3688309" cy="1721397"/>
            <a:chOff x="0" y="0"/>
            <a:chExt cx="971400" cy="453369"/>
          </a:xfrm>
        </p:grpSpPr>
        <p:sp>
          <p:nvSpPr>
            <p:cNvPr id="139" name="Google Shape;139;p16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0" y="76200"/>
              <a:ext cx="9714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993">
                  <a:solidFill>
                    <a:srgbClr val="284B71"/>
                  </a:solidFill>
                </a:rPr>
                <a:t>https://www.diabetesatlas.org</a:t>
              </a:r>
              <a:endParaRPr sz="2993">
                <a:solidFill>
                  <a:srgbClr val="284B71"/>
                </a:solidFill>
              </a:endParaRPr>
            </a:p>
            <a:p>
              <a:pPr marL="0" marR="0" lvl="0" indent="0" algn="ctr" rtl="0">
                <a:lnSpc>
                  <a:spcPct val="91012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 sz="2993" b="1">
                <a:solidFill>
                  <a:srgbClr val="284B71"/>
                </a:solidFill>
              </a:endParaRPr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13138436" y="7375978"/>
            <a:ext cx="3688309" cy="1721397"/>
            <a:chOff x="0" y="0"/>
            <a:chExt cx="971400" cy="453369"/>
          </a:xfrm>
        </p:grpSpPr>
        <p:sp>
          <p:nvSpPr>
            <p:cNvPr id="142" name="Google Shape;142;p16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0" y="76200"/>
              <a:ext cx="9714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u="sng">
                  <a:solidFill>
                    <a:schemeClr val="hlink"/>
                  </a:solidFill>
                  <a:hlinkClick r:id="rId6"/>
                </a:rPr>
                <a:t>https://www.ncbi.nlm.nih.gov</a:t>
              </a:r>
              <a:endParaRPr sz="2400"/>
            </a:p>
          </p:txBody>
        </p:sp>
      </p:grpSp>
      <p:grpSp>
        <p:nvGrpSpPr>
          <p:cNvPr id="144" name="Google Shape;144;p16"/>
          <p:cNvGrpSpPr/>
          <p:nvPr/>
        </p:nvGrpSpPr>
        <p:grpSpPr>
          <a:xfrm>
            <a:off x="1113756" y="5461877"/>
            <a:ext cx="11699388" cy="1721397"/>
            <a:chOff x="0" y="0"/>
            <a:chExt cx="3081300" cy="453369"/>
          </a:xfrm>
        </p:grpSpPr>
        <p:sp>
          <p:nvSpPr>
            <p:cNvPr id="145" name="Google Shape;145;p16"/>
            <p:cNvSpPr/>
            <p:nvPr/>
          </p:nvSpPr>
          <p:spPr>
            <a:xfrm>
              <a:off x="0" y="0"/>
              <a:ext cx="3081170" cy="453369"/>
            </a:xfrm>
            <a:custGeom>
              <a:avLst/>
              <a:gdLst/>
              <a:ahLst/>
              <a:cxnLst/>
              <a:rect l="l" t="t" r="r" b="b"/>
              <a:pathLst>
                <a:path w="3081170" h="453369" extrusionOk="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0" y="76200"/>
              <a:ext cx="3081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FEA928"/>
                  </a:solidFill>
                </a:rPr>
                <a:t>India has over 77 million diabetic patients, and a large percentage are at risk of developing retinal complications due to delayed diagnosis.</a:t>
              </a: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</p:grpSp>
      <p:grpSp>
        <p:nvGrpSpPr>
          <p:cNvPr id="147" name="Google Shape;147;p16"/>
          <p:cNvGrpSpPr/>
          <p:nvPr/>
        </p:nvGrpSpPr>
        <p:grpSpPr>
          <a:xfrm>
            <a:off x="1113756" y="7375978"/>
            <a:ext cx="11699388" cy="1721397"/>
            <a:chOff x="0" y="0"/>
            <a:chExt cx="3081300" cy="453369"/>
          </a:xfrm>
        </p:grpSpPr>
        <p:sp>
          <p:nvSpPr>
            <p:cNvPr id="148" name="Google Shape;148;p16"/>
            <p:cNvSpPr/>
            <p:nvPr/>
          </p:nvSpPr>
          <p:spPr>
            <a:xfrm>
              <a:off x="0" y="0"/>
              <a:ext cx="3081170" cy="453369"/>
            </a:xfrm>
            <a:custGeom>
              <a:avLst/>
              <a:gdLst/>
              <a:ahLst/>
              <a:cxnLst/>
              <a:rect l="l" t="t" r="r" b="b"/>
              <a:pathLst>
                <a:path w="3081170" h="453369" extrusionOk="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6"/>
            <p:cNvSpPr txBox="1"/>
            <p:nvPr/>
          </p:nvSpPr>
          <p:spPr>
            <a:xfrm>
              <a:off x="0" y="76200"/>
              <a:ext cx="3081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FEA928"/>
                  </a:solidFill>
                </a:rPr>
                <a:t>There is a shortage of ophthalmologists in rural areas, making timely diagnosis of retinal diseases difficult and increasing the risk of vision loss.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</p:sp>
      <p:sp>
        <p:nvSpPr>
          <p:cNvPr id="155" name="Google Shape;155;p17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6" name="Google Shape;156;p17"/>
          <p:cNvGrpSpPr/>
          <p:nvPr/>
        </p:nvGrpSpPr>
        <p:grpSpPr>
          <a:xfrm>
            <a:off x="1028700" y="3600450"/>
            <a:ext cx="16230600" cy="5657850"/>
            <a:chOff x="0" y="0"/>
            <a:chExt cx="4274726" cy="1490133"/>
          </a:xfrm>
        </p:grpSpPr>
        <p:sp>
          <p:nvSpPr>
            <p:cNvPr id="157" name="Google Shape;157;p17"/>
            <p:cNvSpPr/>
            <p:nvPr/>
          </p:nvSpPr>
          <p:spPr>
            <a:xfrm>
              <a:off x="0" y="0"/>
              <a:ext cx="4274726" cy="1490133"/>
            </a:xfrm>
            <a:custGeom>
              <a:avLst/>
              <a:gdLst/>
              <a:ahLst/>
              <a:cxnLst/>
              <a:rect l="l" t="t" r="r" b="b"/>
              <a:pathLst>
                <a:path w="4274726" h="1490133" extrusionOk="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465807"/>
                  </a:lnTo>
                  <a:cubicBezTo>
                    <a:pt x="4274726" y="1472258"/>
                    <a:pt x="4272163" y="1478446"/>
                    <a:pt x="4267601" y="1483008"/>
                  </a:cubicBezTo>
                  <a:cubicBezTo>
                    <a:pt x="4263039" y="1487570"/>
                    <a:pt x="4256851" y="1490133"/>
                    <a:pt x="4250399" y="1490133"/>
                  </a:cubicBezTo>
                  <a:lnTo>
                    <a:pt x="24327" y="1490133"/>
                  </a:lnTo>
                  <a:cubicBezTo>
                    <a:pt x="10891" y="1490133"/>
                    <a:pt x="0" y="1479242"/>
                    <a:pt x="0" y="146580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0" y="152400"/>
              <a:ext cx="4274726" cy="1337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00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To design/develop a </a:t>
              </a:r>
              <a:r>
                <a:rPr lang="en-US" sz="5600" b="1">
                  <a:solidFill>
                    <a:srgbClr val="284B71"/>
                  </a:solidFill>
                </a:rPr>
                <a:t>AI-based system </a:t>
              </a:r>
              <a:r>
                <a:rPr lang="en-US" sz="5600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for </a:t>
              </a:r>
              <a:r>
                <a:rPr lang="en-US" sz="5600" b="1">
                  <a:solidFill>
                    <a:srgbClr val="284B71"/>
                  </a:solidFill>
                </a:rPr>
                <a:t>early detection of diabetes using retinal images</a:t>
              </a:r>
              <a:r>
                <a:rPr lang="en-US" sz="5600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 that solves </a:t>
              </a:r>
              <a:r>
                <a:rPr lang="en-US" sz="5600" b="1">
                  <a:solidFill>
                    <a:srgbClr val="284B71"/>
                  </a:solidFill>
                </a:rPr>
                <a:t>delayed diagnosis and risk of vision loss</a:t>
              </a:r>
              <a:r>
                <a:rPr lang="en-US" sz="5600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  <a:p>
              <a:pPr marL="0" marR="0" lvl="0" indent="0" algn="ctr" rtl="0">
                <a:lnSpc>
                  <a:spcPct val="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600" b="1" i="0" u="none" strike="noStrike" cap="none">
                <a:solidFill>
                  <a:srgbClr val="284B7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" name="Google Shape;159;p17"/>
          <p:cNvSpPr txBox="1"/>
          <p:nvPr/>
        </p:nvSpPr>
        <p:spPr>
          <a:xfrm>
            <a:off x="1028700" y="2180804"/>
            <a:ext cx="3083868" cy="1343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Solve</a:t>
            </a:r>
            <a:r>
              <a:rPr lang="en-US" sz="7597" b="1" i="0" u="none" strike="noStrike" cap="non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marR="0" lvl="0" indent="0" algn="l" rtl="0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597" b="1" i="0" u="none" strike="noStrike" cap="none">
              <a:solidFill>
                <a:srgbClr val="1497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17"/>
          <p:cNvGrpSpPr/>
          <p:nvPr/>
        </p:nvGrpSpPr>
        <p:grpSpPr>
          <a:xfrm>
            <a:off x="1028700" y="3600450"/>
            <a:ext cx="3114778" cy="1135971"/>
            <a:chOff x="0" y="0"/>
            <a:chExt cx="820353" cy="299186"/>
          </a:xfrm>
        </p:grpSpPr>
        <p:sp>
          <p:nvSpPr>
            <p:cNvPr id="161" name="Google Shape;161;p17"/>
            <p:cNvSpPr/>
            <p:nvPr/>
          </p:nvSpPr>
          <p:spPr>
            <a:xfrm>
              <a:off x="0" y="0"/>
              <a:ext cx="820353" cy="299186"/>
            </a:xfrm>
            <a:custGeom>
              <a:avLst/>
              <a:gdLst/>
              <a:ahLst/>
              <a:cxnLst/>
              <a:rect l="l" t="t" r="r" b="b"/>
              <a:pathLst>
                <a:path w="820353" h="299186" extrusionOk="0">
                  <a:moveTo>
                    <a:pt x="126763" y="0"/>
                  </a:moveTo>
                  <a:lnTo>
                    <a:pt x="693590" y="0"/>
                  </a:lnTo>
                  <a:cubicBezTo>
                    <a:pt x="763599" y="0"/>
                    <a:pt x="820353" y="56754"/>
                    <a:pt x="820353" y="126763"/>
                  </a:cubicBezTo>
                  <a:lnTo>
                    <a:pt x="820353" y="172423"/>
                  </a:lnTo>
                  <a:cubicBezTo>
                    <a:pt x="820353" y="206043"/>
                    <a:pt x="806998" y="238285"/>
                    <a:pt x="783225" y="262058"/>
                  </a:cubicBezTo>
                  <a:cubicBezTo>
                    <a:pt x="759452" y="285830"/>
                    <a:pt x="727210" y="299186"/>
                    <a:pt x="693590" y="299186"/>
                  </a:cubicBezTo>
                  <a:lnTo>
                    <a:pt x="126763" y="299186"/>
                  </a:lnTo>
                  <a:cubicBezTo>
                    <a:pt x="56754" y="299186"/>
                    <a:pt x="0" y="242432"/>
                    <a:pt x="0" y="172423"/>
                  </a:cubicBezTo>
                  <a:lnTo>
                    <a:pt x="0" y="126763"/>
                  </a:lnTo>
                  <a:cubicBezTo>
                    <a:pt x="0" y="93143"/>
                    <a:pt x="13355" y="60901"/>
                    <a:pt x="37128" y="37128"/>
                  </a:cubicBezTo>
                  <a:cubicBezTo>
                    <a:pt x="60901" y="13355"/>
                    <a:pt x="93143" y="0"/>
                    <a:pt x="12676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0" y="57150"/>
              <a:ext cx="820353" cy="242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3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Our Solution</a:t>
              </a:r>
              <a:endParaRPr/>
            </a:p>
          </p:txBody>
        </p:sp>
      </p:grpSp>
      <p:graphicFrame>
        <p:nvGraphicFramePr>
          <p:cNvPr id="163" name="Google Shape;163;p17"/>
          <p:cNvGraphicFramePr/>
          <p:nvPr/>
        </p:nvGraphicFramePr>
        <p:xfrm>
          <a:off x="152400" y="152400"/>
          <a:ext cx="208250" cy="396210"/>
        </p:xfrm>
        <a:graphic>
          <a:graphicData uri="http://schemas.openxmlformats.org/drawingml/2006/table">
            <a:tbl>
              <a:tblPr>
                <a:noFill/>
                <a:tableStyleId>{B477BABC-071B-488A-9059-F73E0B1A3422}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4" name="Google Shape;164;p17"/>
          <p:cNvGraphicFramePr/>
          <p:nvPr/>
        </p:nvGraphicFramePr>
        <p:xfrm>
          <a:off x="304800" y="304800"/>
          <a:ext cx="1038225" cy="609570"/>
        </p:xfrm>
        <a:graphic>
          <a:graphicData uri="http://schemas.openxmlformats.org/drawingml/2006/table">
            <a:tbl>
              <a:tblPr>
                <a:noFill/>
                <a:tableStyleId>{B477BABC-071B-488A-9059-F73E0B1A3422}</a:tableStyleId>
              </a:tblPr>
              <a:tblGrid>
                <a:gridCol w="103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AI-based system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5" name="Google Shape;165;p17"/>
          <p:cNvGraphicFramePr/>
          <p:nvPr/>
        </p:nvGraphicFramePr>
        <p:xfrm>
          <a:off x="304800" y="304800"/>
          <a:ext cx="208250" cy="396210"/>
        </p:xfrm>
        <a:graphic>
          <a:graphicData uri="http://schemas.openxmlformats.org/drawingml/2006/table">
            <a:tbl>
              <a:tblPr>
                <a:noFill/>
                <a:tableStyleId>{B477BABC-071B-488A-9059-F73E0B1A3422}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6" name="Google Shape;166;p17"/>
          <p:cNvGraphicFramePr/>
          <p:nvPr/>
        </p:nvGraphicFramePr>
        <p:xfrm>
          <a:off x="457200" y="457200"/>
          <a:ext cx="1038225" cy="609570"/>
        </p:xfrm>
        <a:graphic>
          <a:graphicData uri="http://schemas.openxmlformats.org/drawingml/2006/table">
            <a:tbl>
              <a:tblPr>
                <a:noFill/>
                <a:tableStyleId>{B477BABC-071B-488A-9059-F73E0B1A3422}</a:tableStyleId>
              </a:tblPr>
              <a:tblGrid>
                <a:gridCol w="103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AI-based system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7" name="Google Shape;167;p17"/>
          <p:cNvGraphicFramePr/>
          <p:nvPr/>
        </p:nvGraphicFramePr>
        <p:xfrm>
          <a:off x="457200" y="457200"/>
          <a:ext cx="208250" cy="396210"/>
        </p:xfrm>
        <a:graphic>
          <a:graphicData uri="http://schemas.openxmlformats.org/drawingml/2006/table">
            <a:tbl>
              <a:tblPr>
                <a:noFill/>
                <a:tableStyleId>{B477BABC-071B-488A-9059-F73E0B1A3422}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8" name="Google Shape;168;p17"/>
          <p:cNvGraphicFramePr/>
          <p:nvPr/>
        </p:nvGraphicFramePr>
        <p:xfrm>
          <a:off x="609600" y="609600"/>
          <a:ext cx="1038225" cy="609570"/>
        </p:xfrm>
        <a:graphic>
          <a:graphicData uri="http://schemas.openxmlformats.org/drawingml/2006/table">
            <a:tbl>
              <a:tblPr>
                <a:noFill/>
                <a:tableStyleId>{B477BABC-071B-488A-9059-F73E0B1A3422}</a:tableStyleId>
              </a:tblPr>
              <a:tblGrid>
                <a:gridCol w="103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AI-based system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</p:sp>
      <p:sp>
        <p:nvSpPr>
          <p:cNvPr id="174" name="Google Shape;174;p18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5" name="Google Shape;175;p18"/>
          <p:cNvSpPr txBox="1"/>
          <p:nvPr/>
        </p:nvSpPr>
        <p:spPr>
          <a:xfrm>
            <a:off x="1028700" y="2180804"/>
            <a:ext cx="5762476" cy="1343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 Stack </a:t>
            </a:r>
            <a:r>
              <a:rPr lang="en-US" sz="7597" b="1" i="0" u="none" strike="noStrike" cap="non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marR="0" lvl="0" indent="0" algn="l" rtl="0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597" b="1" i="0" u="none" strike="noStrike" cap="none">
              <a:solidFill>
                <a:srgbClr val="1497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Google Shape;176;p18"/>
          <p:cNvGrpSpPr/>
          <p:nvPr/>
        </p:nvGrpSpPr>
        <p:grpSpPr>
          <a:xfrm>
            <a:off x="1028700" y="3600450"/>
            <a:ext cx="7911929" cy="6168521"/>
            <a:chOff x="0" y="0"/>
            <a:chExt cx="10549239" cy="8224695"/>
          </a:xfrm>
        </p:grpSpPr>
        <p:grpSp>
          <p:nvGrpSpPr>
            <p:cNvPr id="177" name="Google Shape;177;p18"/>
            <p:cNvGrpSpPr/>
            <p:nvPr/>
          </p:nvGrpSpPr>
          <p:grpSpPr>
            <a:xfrm>
              <a:off x="0" y="0"/>
              <a:ext cx="10549239" cy="8224695"/>
              <a:chOff x="0" y="0"/>
              <a:chExt cx="2083800" cy="1624631"/>
            </a:xfrm>
          </p:grpSpPr>
          <p:sp>
            <p:nvSpPr>
              <p:cNvPr id="178" name="Google Shape;178;p18"/>
              <p:cNvSpPr/>
              <p:nvPr/>
            </p:nvSpPr>
            <p:spPr>
              <a:xfrm>
                <a:off x="0" y="0"/>
                <a:ext cx="2083794" cy="1624631"/>
              </a:xfrm>
              <a:custGeom>
                <a:avLst/>
                <a:gdLst/>
                <a:ahLst/>
                <a:cxnLst/>
                <a:rect l="l" t="t" r="r" b="b"/>
                <a:pathLst>
                  <a:path w="2083794" h="1624631" extrusionOk="0">
                    <a:moveTo>
                      <a:pt x="49904" y="0"/>
                    </a:moveTo>
                    <a:lnTo>
                      <a:pt x="2033890" y="0"/>
                    </a:lnTo>
                    <a:cubicBezTo>
                      <a:pt x="2047125" y="0"/>
                      <a:pt x="2059819" y="5258"/>
                      <a:pt x="2069178" y="14617"/>
                    </a:cubicBezTo>
                    <a:cubicBezTo>
                      <a:pt x="2078537" y="23975"/>
                      <a:pt x="2083794" y="36669"/>
                      <a:pt x="2083794" y="49904"/>
                    </a:cubicBezTo>
                    <a:lnTo>
                      <a:pt x="2083794" y="1574727"/>
                    </a:lnTo>
                    <a:cubicBezTo>
                      <a:pt x="2083794" y="1602288"/>
                      <a:pt x="2061451" y="1624631"/>
                      <a:pt x="2033890" y="1624631"/>
                    </a:cubicBezTo>
                    <a:lnTo>
                      <a:pt x="49904" y="1624631"/>
                    </a:lnTo>
                    <a:cubicBezTo>
                      <a:pt x="36669" y="1624631"/>
                      <a:pt x="23975" y="1619373"/>
                      <a:pt x="14617" y="1610015"/>
                    </a:cubicBezTo>
                    <a:cubicBezTo>
                      <a:pt x="5258" y="1600656"/>
                      <a:pt x="0" y="1587962"/>
                      <a:pt x="0" y="1574727"/>
                    </a:cubicBezTo>
                    <a:lnTo>
                      <a:pt x="0" y="49904"/>
                    </a:lnTo>
                    <a:cubicBezTo>
                      <a:pt x="0" y="36669"/>
                      <a:pt x="5258" y="23975"/>
                      <a:pt x="14617" y="14617"/>
                    </a:cubicBezTo>
                    <a:cubicBezTo>
                      <a:pt x="23975" y="5258"/>
                      <a:pt x="36669" y="0"/>
                      <a:pt x="49904" y="0"/>
                    </a:cubicBezTo>
                    <a:close/>
                  </a:path>
                </a:pathLst>
              </a:custGeom>
              <a:solidFill>
                <a:srgbClr val="FEA9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8"/>
              <p:cNvSpPr txBox="1"/>
              <p:nvPr/>
            </p:nvSpPr>
            <p:spPr>
              <a:xfrm>
                <a:off x="0" y="0"/>
                <a:ext cx="2083800" cy="162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b" anchorCtr="0">
                <a:noAutofit/>
              </a:bodyPr>
              <a:lstStyle/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000" b="1">
                    <a:solidFill>
                      <a:srgbClr val="284B71"/>
                    </a:solidFill>
                  </a:rPr>
                  <a:t>CNN Model</a:t>
                </a:r>
                <a:endParaRPr/>
              </a:p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000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000" b="1" i="0" u="none" strike="noStrike" cap="none">
                    <a:solidFill>
                      <a:srgbClr val="284B71"/>
                    </a:solidFill>
                    <a:latin typeface="Arial"/>
                    <a:ea typeface="Arial"/>
                    <a:cs typeface="Arial"/>
                    <a:sym typeface="Arial"/>
                  </a:rPr>
                  <a:t>Because it can</a:t>
                </a:r>
                <a:r>
                  <a:rPr lang="en-US" sz="5000" b="1">
                    <a:solidFill>
                      <a:srgbClr val="284B71"/>
                    </a:solidFill>
                  </a:rPr>
                  <a:t> </a:t>
                </a:r>
                <a:br>
                  <a:rPr lang="en-US" sz="5000" b="1">
                    <a:solidFill>
                      <a:srgbClr val="284B71"/>
                    </a:solidFill>
                  </a:rPr>
                </a:br>
                <a:r>
                  <a:rPr lang="en-US" sz="5000" b="1">
                    <a:solidFill>
                      <a:srgbClr val="284B71"/>
                    </a:solidFill>
                  </a:rPr>
                  <a:t>Extract features from retinal images.</a:t>
                </a:r>
                <a:br>
                  <a:rPr lang="en-US" sz="5000" b="1">
                    <a:solidFill>
                      <a:srgbClr val="284B71"/>
                    </a:solidFill>
                  </a:rPr>
                </a:br>
                <a:r>
                  <a:rPr lang="en-US" sz="5000" b="1">
                    <a:solidFill>
                      <a:srgbClr val="284B71"/>
                    </a:solidFill>
                  </a:rPr>
                  <a:t>Detect patterns related to diabetic retinopathy.</a:t>
                </a:r>
                <a:endParaRPr sz="5000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" name="Google Shape;180;p18"/>
            <p:cNvGrpSpPr/>
            <p:nvPr/>
          </p:nvGrpSpPr>
          <p:grpSpPr>
            <a:xfrm>
              <a:off x="0" y="0"/>
              <a:ext cx="4912231" cy="1514628"/>
              <a:chOff x="0" y="0"/>
              <a:chExt cx="970317" cy="299186"/>
            </a:xfrm>
          </p:grpSpPr>
          <p:sp>
            <p:nvSpPr>
              <p:cNvPr id="181" name="Google Shape;181;p18"/>
              <p:cNvSpPr/>
              <p:nvPr/>
            </p:nvSpPr>
            <p:spPr>
              <a:xfrm>
                <a:off x="0" y="0"/>
                <a:ext cx="970317" cy="299186"/>
              </a:xfrm>
              <a:custGeom>
                <a:avLst/>
                <a:gdLst/>
                <a:ahLst/>
                <a:cxnLst/>
                <a:rect l="l" t="t" r="r" b="b"/>
                <a:pathLst>
                  <a:path w="970317" h="299186" extrusionOk="0">
                    <a:moveTo>
                      <a:pt x="107171" y="0"/>
                    </a:moveTo>
                    <a:lnTo>
                      <a:pt x="863146" y="0"/>
                    </a:lnTo>
                    <a:cubicBezTo>
                      <a:pt x="922335" y="0"/>
                      <a:pt x="970317" y="47982"/>
                      <a:pt x="970317" y="107171"/>
                    </a:cubicBezTo>
                    <a:lnTo>
                      <a:pt x="970317" y="192014"/>
                    </a:lnTo>
                    <a:cubicBezTo>
                      <a:pt x="970317" y="220438"/>
                      <a:pt x="959026" y="247697"/>
                      <a:pt x="938927" y="267796"/>
                    </a:cubicBezTo>
                    <a:cubicBezTo>
                      <a:pt x="918829" y="287895"/>
                      <a:pt x="891570" y="299186"/>
                      <a:pt x="863146" y="299186"/>
                    </a:cubicBezTo>
                    <a:lnTo>
                      <a:pt x="107171" y="299186"/>
                    </a:lnTo>
                    <a:cubicBezTo>
                      <a:pt x="47982" y="299186"/>
                      <a:pt x="0" y="251203"/>
                      <a:pt x="0" y="192014"/>
                    </a:cubicBezTo>
                    <a:lnTo>
                      <a:pt x="0" y="107171"/>
                    </a:lnTo>
                    <a:cubicBezTo>
                      <a:pt x="0" y="78748"/>
                      <a:pt x="11291" y="51488"/>
                      <a:pt x="31390" y="31390"/>
                    </a:cubicBezTo>
                    <a:cubicBezTo>
                      <a:pt x="51488" y="11291"/>
                      <a:pt x="78748" y="0"/>
                      <a:pt x="107171" y="0"/>
                    </a:cubicBezTo>
                    <a:close/>
                  </a:path>
                </a:pathLst>
              </a:custGeom>
              <a:solidFill>
                <a:srgbClr val="284B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8"/>
              <p:cNvSpPr txBox="1"/>
              <p:nvPr/>
            </p:nvSpPr>
            <p:spPr>
              <a:xfrm>
                <a:off x="0" y="57150"/>
                <a:ext cx="970317" cy="242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93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ML /AI Engine</a:t>
                </a:r>
                <a:endParaRPr/>
              </a:p>
            </p:txBody>
          </p:sp>
        </p:grpSp>
      </p:grpSp>
      <p:grpSp>
        <p:nvGrpSpPr>
          <p:cNvPr id="183" name="Google Shape;183;p18"/>
          <p:cNvGrpSpPr/>
          <p:nvPr/>
        </p:nvGrpSpPr>
        <p:grpSpPr>
          <a:xfrm>
            <a:off x="9144000" y="3600450"/>
            <a:ext cx="7911906" cy="6168521"/>
            <a:chOff x="0" y="0"/>
            <a:chExt cx="10549209" cy="8224695"/>
          </a:xfrm>
        </p:grpSpPr>
        <p:grpSp>
          <p:nvGrpSpPr>
            <p:cNvPr id="184" name="Google Shape;184;p18"/>
            <p:cNvGrpSpPr/>
            <p:nvPr/>
          </p:nvGrpSpPr>
          <p:grpSpPr>
            <a:xfrm>
              <a:off x="0" y="0"/>
              <a:ext cx="10549209" cy="8224695"/>
              <a:chOff x="0" y="0"/>
              <a:chExt cx="2083794" cy="1624631"/>
            </a:xfrm>
          </p:grpSpPr>
          <p:sp>
            <p:nvSpPr>
              <p:cNvPr id="185" name="Google Shape;185;p18"/>
              <p:cNvSpPr/>
              <p:nvPr/>
            </p:nvSpPr>
            <p:spPr>
              <a:xfrm>
                <a:off x="0" y="0"/>
                <a:ext cx="2083794" cy="1624631"/>
              </a:xfrm>
              <a:custGeom>
                <a:avLst/>
                <a:gdLst/>
                <a:ahLst/>
                <a:cxnLst/>
                <a:rect l="l" t="t" r="r" b="b"/>
                <a:pathLst>
                  <a:path w="2083794" h="1624631" extrusionOk="0">
                    <a:moveTo>
                      <a:pt x="49904" y="0"/>
                    </a:moveTo>
                    <a:lnTo>
                      <a:pt x="2033890" y="0"/>
                    </a:lnTo>
                    <a:cubicBezTo>
                      <a:pt x="2047125" y="0"/>
                      <a:pt x="2059819" y="5258"/>
                      <a:pt x="2069178" y="14617"/>
                    </a:cubicBezTo>
                    <a:cubicBezTo>
                      <a:pt x="2078537" y="23975"/>
                      <a:pt x="2083794" y="36669"/>
                      <a:pt x="2083794" y="49904"/>
                    </a:cubicBezTo>
                    <a:lnTo>
                      <a:pt x="2083794" y="1574727"/>
                    </a:lnTo>
                    <a:cubicBezTo>
                      <a:pt x="2083794" y="1602288"/>
                      <a:pt x="2061451" y="1624631"/>
                      <a:pt x="2033890" y="1624631"/>
                    </a:cubicBezTo>
                    <a:lnTo>
                      <a:pt x="49904" y="1624631"/>
                    </a:lnTo>
                    <a:cubicBezTo>
                      <a:pt x="36669" y="1624631"/>
                      <a:pt x="23975" y="1619373"/>
                      <a:pt x="14617" y="1610015"/>
                    </a:cubicBezTo>
                    <a:cubicBezTo>
                      <a:pt x="5258" y="1600656"/>
                      <a:pt x="0" y="1587962"/>
                      <a:pt x="0" y="1574727"/>
                    </a:cubicBezTo>
                    <a:lnTo>
                      <a:pt x="0" y="49904"/>
                    </a:lnTo>
                    <a:cubicBezTo>
                      <a:pt x="0" y="36669"/>
                      <a:pt x="5258" y="23975"/>
                      <a:pt x="14617" y="14617"/>
                    </a:cubicBezTo>
                    <a:cubicBezTo>
                      <a:pt x="23975" y="5258"/>
                      <a:pt x="36669" y="0"/>
                      <a:pt x="49904" y="0"/>
                    </a:cubicBezTo>
                    <a:close/>
                  </a:path>
                </a:pathLst>
              </a:custGeom>
              <a:solidFill>
                <a:srgbClr val="FEA9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8"/>
              <p:cNvSpPr txBox="1"/>
              <p:nvPr/>
            </p:nvSpPr>
            <p:spPr>
              <a:xfrm>
                <a:off x="0" y="133350"/>
                <a:ext cx="2083794" cy="14912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b" anchorCtr="0">
                <a:noAutofit/>
              </a:bodyPr>
              <a:lstStyle/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000" b="1" i="0" u="none" strike="noStrike" cap="none">
                    <a:solidFill>
                      <a:srgbClr val="284B71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5000" b="1">
                    <a:solidFill>
                      <a:srgbClr val="284B71"/>
                    </a:solidFill>
                  </a:rPr>
                  <a:t>Flask (Python Backend)</a:t>
                </a:r>
                <a:endParaRPr/>
              </a:p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000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000" b="1" i="0" u="none" strike="noStrike" cap="none">
                    <a:solidFill>
                      <a:srgbClr val="284B71"/>
                    </a:solidFill>
                    <a:latin typeface="Arial"/>
                    <a:ea typeface="Arial"/>
                    <a:cs typeface="Arial"/>
                    <a:sym typeface="Arial"/>
                  </a:rPr>
                  <a:t>Because it can</a:t>
                </a:r>
                <a:r>
                  <a:rPr lang="en-US" sz="5000" b="1">
                    <a:solidFill>
                      <a:srgbClr val="284B71"/>
                    </a:solidFill>
                  </a:rPr>
                  <a:t> </a:t>
                </a:r>
                <a:br>
                  <a:rPr lang="en-US" sz="5000" b="1">
                    <a:solidFill>
                      <a:srgbClr val="284B71"/>
                    </a:solidFill>
                  </a:rPr>
                </a:br>
                <a:r>
                  <a:rPr lang="en-US" sz="5000" b="1">
                    <a:solidFill>
                      <a:srgbClr val="284B71"/>
                    </a:solidFill>
                  </a:rPr>
                  <a:t>Handle user requests and image uploads.</a:t>
                </a:r>
                <a:br>
                  <a:rPr lang="en-US" sz="5000" b="1">
                    <a:solidFill>
                      <a:srgbClr val="284B71"/>
                    </a:solidFill>
                  </a:rPr>
                </a:br>
                <a:r>
                  <a:rPr lang="en-US" sz="5000" b="1">
                    <a:solidFill>
                      <a:srgbClr val="284B71"/>
                    </a:solidFill>
                  </a:rPr>
                  <a:t>Integrate ML model for prediction.</a:t>
                </a:r>
                <a:endParaRPr sz="5000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18"/>
            <p:cNvGrpSpPr/>
            <p:nvPr/>
          </p:nvGrpSpPr>
          <p:grpSpPr>
            <a:xfrm>
              <a:off x="0" y="0"/>
              <a:ext cx="4912231" cy="1514628"/>
              <a:chOff x="0" y="0"/>
              <a:chExt cx="970317" cy="299186"/>
            </a:xfrm>
          </p:grpSpPr>
          <p:sp>
            <p:nvSpPr>
              <p:cNvPr id="188" name="Google Shape;188;p18"/>
              <p:cNvSpPr/>
              <p:nvPr/>
            </p:nvSpPr>
            <p:spPr>
              <a:xfrm>
                <a:off x="0" y="0"/>
                <a:ext cx="970317" cy="299186"/>
              </a:xfrm>
              <a:custGeom>
                <a:avLst/>
                <a:gdLst/>
                <a:ahLst/>
                <a:cxnLst/>
                <a:rect l="l" t="t" r="r" b="b"/>
                <a:pathLst>
                  <a:path w="970317" h="299186" extrusionOk="0">
                    <a:moveTo>
                      <a:pt x="107171" y="0"/>
                    </a:moveTo>
                    <a:lnTo>
                      <a:pt x="863146" y="0"/>
                    </a:lnTo>
                    <a:cubicBezTo>
                      <a:pt x="922335" y="0"/>
                      <a:pt x="970317" y="47982"/>
                      <a:pt x="970317" y="107171"/>
                    </a:cubicBezTo>
                    <a:lnTo>
                      <a:pt x="970317" y="192014"/>
                    </a:lnTo>
                    <a:cubicBezTo>
                      <a:pt x="970317" y="220438"/>
                      <a:pt x="959026" y="247697"/>
                      <a:pt x="938927" y="267796"/>
                    </a:cubicBezTo>
                    <a:cubicBezTo>
                      <a:pt x="918829" y="287895"/>
                      <a:pt x="891570" y="299186"/>
                      <a:pt x="863146" y="299186"/>
                    </a:cubicBezTo>
                    <a:lnTo>
                      <a:pt x="107171" y="299186"/>
                    </a:lnTo>
                    <a:cubicBezTo>
                      <a:pt x="47982" y="299186"/>
                      <a:pt x="0" y="251203"/>
                      <a:pt x="0" y="192014"/>
                    </a:cubicBezTo>
                    <a:lnTo>
                      <a:pt x="0" y="107171"/>
                    </a:lnTo>
                    <a:cubicBezTo>
                      <a:pt x="0" y="78748"/>
                      <a:pt x="11291" y="51488"/>
                      <a:pt x="31390" y="31390"/>
                    </a:cubicBezTo>
                    <a:cubicBezTo>
                      <a:pt x="51488" y="11291"/>
                      <a:pt x="78748" y="0"/>
                      <a:pt x="107171" y="0"/>
                    </a:cubicBezTo>
                    <a:close/>
                  </a:path>
                </a:pathLst>
              </a:custGeom>
              <a:solidFill>
                <a:srgbClr val="284B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8"/>
              <p:cNvSpPr txBox="1"/>
              <p:nvPr/>
            </p:nvSpPr>
            <p:spPr>
              <a:xfrm>
                <a:off x="0" y="57150"/>
                <a:ext cx="970317" cy="242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93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Backend and API 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</p:sp>
      <p:sp>
        <p:nvSpPr>
          <p:cNvPr id="195" name="Google Shape;195;p19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6" name="Google Shape;196;p19"/>
          <p:cNvSpPr txBox="1"/>
          <p:nvPr/>
        </p:nvSpPr>
        <p:spPr>
          <a:xfrm>
            <a:off x="1028700" y="2180804"/>
            <a:ext cx="5762476" cy="1343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 Stack </a:t>
            </a:r>
            <a:r>
              <a:rPr lang="en-US" sz="7597" b="1" i="0" u="none" strike="noStrike" cap="non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marR="0" lvl="0" indent="0" algn="l" rtl="0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597" b="1" i="0" u="none" strike="noStrike" cap="none">
              <a:solidFill>
                <a:srgbClr val="1497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19"/>
          <p:cNvGrpSpPr/>
          <p:nvPr/>
        </p:nvGrpSpPr>
        <p:grpSpPr>
          <a:xfrm>
            <a:off x="1028700" y="3600450"/>
            <a:ext cx="7911929" cy="6168521"/>
            <a:chOff x="0" y="0"/>
            <a:chExt cx="10549239" cy="8224695"/>
          </a:xfrm>
        </p:grpSpPr>
        <p:grpSp>
          <p:nvGrpSpPr>
            <p:cNvPr id="198" name="Google Shape;198;p19"/>
            <p:cNvGrpSpPr/>
            <p:nvPr/>
          </p:nvGrpSpPr>
          <p:grpSpPr>
            <a:xfrm>
              <a:off x="0" y="0"/>
              <a:ext cx="10549239" cy="8224695"/>
              <a:chOff x="0" y="0"/>
              <a:chExt cx="2083800" cy="1624631"/>
            </a:xfrm>
          </p:grpSpPr>
          <p:sp>
            <p:nvSpPr>
              <p:cNvPr id="199" name="Google Shape;199;p19"/>
              <p:cNvSpPr/>
              <p:nvPr/>
            </p:nvSpPr>
            <p:spPr>
              <a:xfrm>
                <a:off x="0" y="0"/>
                <a:ext cx="2083794" cy="1624631"/>
              </a:xfrm>
              <a:custGeom>
                <a:avLst/>
                <a:gdLst/>
                <a:ahLst/>
                <a:cxnLst/>
                <a:rect l="l" t="t" r="r" b="b"/>
                <a:pathLst>
                  <a:path w="2083794" h="1624631" extrusionOk="0">
                    <a:moveTo>
                      <a:pt x="49904" y="0"/>
                    </a:moveTo>
                    <a:lnTo>
                      <a:pt x="2033890" y="0"/>
                    </a:lnTo>
                    <a:cubicBezTo>
                      <a:pt x="2047125" y="0"/>
                      <a:pt x="2059819" y="5258"/>
                      <a:pt x="2069178" y="14617"/>
                    </a:cubicBezTo>
                    <a:cubicBezTo>
                      <a:pt x="2078537" y="23975"/>
                      <a:pt x="2083794" y="36669"/>
                      <a:pt x="2083794" y="49904"/>
                    </a:cubicBezTo>
                    <a:lnTo>
                      <a:pt x="2083794" y="1574727"/>
                    </a:lnTo>
                    <a:cubicBezTo>
                      <a:pt x="2083794" y="1602288"/>
                      <a:pt x="2061451" y="1624631"/>
                      <a:pt x="2033890" y="1624631"/>
                    </a:cubicBezTo>
                    <a:lnTo>
                      <a:pt x="49904" y="1624631"/>
                    </a:lnTo>
                    <a:cubicBezTo>
                      <a:pt x="36669" y="1624631"/>
                      <a:pt x="23975" y="1619373"/>
                      <a:pt x="14617" y="1610015"/>
                    </a:cubicBezTo>
                    <a:cubicBezTo>
                      <a:pt x="5258" y="1600656"/>
                      <a:pt x="0" y="1587962"/>
                      <a:pt x="0" y="1574727"/>
                    </a:cubicBezTo>
                    <a:lnTo>
                      <a:pt x="0" y="49904"/>
                    </a:lnTo>
                    <a:cubicBezTo>
                      <a:pt x="0" y="36669"/>
                      <a:pt x="5258" y="23975"/>
                      <a:pt x="14617" y="14617"/>
                    </a:cubicBezTo>
                    <a:cubicBezTo>
                      <a:pt x="23975" y="5258"/>
                      <a:pt x="36669" y="0"/>
                      <a:pt x="49904" y="0"/>
                    </a:cubicBezTo>
                    <a:close/>
                  </a:path>
                </a:pathLst>
              </a:custGeom>
              <a:solidFill>
                <a:srgbClr val="FEA9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9"/>
              <p:cNvSpPr txBox="1"/>
              <p:nvPr/>
            </p:nvSpPr>
            <p:spPr>
              <a:xfrm>
                <a:off x="0" y="0"/>
                <a:ext cx="2083800" cy="162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b" anchorCtr="0">
                <a:noAutofit/>
              </a:bodyPr>
              <a:lstStyle/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 b="1">
                    <a:solidFill>
                      <a:srgbClr val="284B71"/>
                    </a:solidFill>
                  </a:rPr>
                  <a:t>Our Frontend is HTML, CSS, JavaScript</a:t>
                </a:r>
                <a:endParaRPr sz="1200"/>
              </a:p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000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 b="1" i="0" u="none" strike="noStrike" cap="none">
                    <a:solidFill>
                      <a:srgbClr val="284B71"/>
                    </a:solidFill>
                    <a:latin typeface="Arial"/>
                    <a:ea typeface="Arial"/>
                    <a:cs typeface="Arial"/>
                    <a:sym typeface="Arial"/>
                  </a:rPr>
                  <a:t>Because it can</a:t>
                </a:r>
                <a:br>
                  <a:rPr lang="en-US" sz="4800" b="1">
                    <a:solidFill>
                      <a:srgbClr val="284B71"/>
                    </a:solidFill>
                  </a:rPr>
                </a:br>
                <a:r>
                  <a:rPr lang="en-US" sz="4800" b="1">
                    <a:solidFill>
                      <a:srgbClr val="284B71"/>
                    </a:solidFill>
                  </a:rPr>
                  <a:t>Allow image upload easily.</a:t>
                </a:r>
                <a:br>
                  <a:rPr lang="en-US" sz="4800" b="1">
                    <a:solidFill>
                      <a:srgbClr val="284B71"/>
                    </a:solidFill>
                  </a:rPr>
                </a:br>
                <a:r>
                  <a:rPr lang="en-US" sz="4800" b="1">
                    <a:solidFill>
                      <a:srgbClr val="284B71"/>
                    </a:solidFill>
                  </a:rPr>
                  <a:t>Display prediction results clearly.</a:t>
                </a:r>
                <a:endParaRPr sz="4800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201;p19"/>
            <p:cNvGrpSpPr/>
            <p:nvPr/>
          </p:nvGrpSpPr>
          <p:grpSpPr>
            <a:xfrm>
              <a:off x="0" y="0"/>
              <a:ext cx="4912231" cy="1514628"/>
              <a:chOff x="0" y="0"/>
              <a:chExt cx="970317" cy="299186"/>
            </a:xfrm>
          </p:grpSpPr>
          <p:sp>
            <p:nvSpPr>
              <p:cNvPr id="202" name="Google Shape;202;p19"/>
              <p:cNvSpPr/>
              <p:nvPr/>
            </p:nvSpPr>
            <p:spPr>
              <a:xfrm>
                <a:off x="0" y="0"/>
                <a:ext cx="970317" cy="299186"/>
              </a:xfrm>
              <a:custGeom>
                <a:avLst/>
                <a:gdLst/>
                <a:ahLst/>
                <a:cxnLst/>
                <a:rect l="l" t="t" r="r" b="b"/>
                <a:pathLst>
                  <a:path w="970317" h="299186" extrusionOk="0">
                    <a:moveTo>
                      <a:pt x="107171" y="0"/>
                    </a:moveTo>
                    <a:lnTo>
                      <a:pt x="863146" y="0"/>
                    </a:lnTo>
                    <a:cubicBezTo>
                      <a:pt x="922335" y="0"/>
                      <a:pt x="970317" y="47982"/>
                      <a:pt x="970317" y="107171"/>
                    </a:cubicBezTo>
                    <a:lnTo>
                      <a:pt x="970317" y="192014"/>
                    </a:lnTo>
                    <a:cubicBezTo>
                      <a:pt x="970317" y="220438"/>
                      <a:pt x="959026" y="247697"/>
                      <a:pt x="938927" y="267796"/>
                    </a:cubicBezTo>
                    <a:cubicBezTo>
                      <a:pt x="918829" y="287895"/>
                      <a:pt x="891570" y="299186"/>
                      <a:pt x="863146" y="299186"/>
                    </a:cubicBezTo>
                    <a:lnTo>
                      <a:pt x="107171" y="299186"/>
                    </a:lnTo>
                    <a:cubicBezTo>
                      <a:pt x="47982" y="299186"/>
                      <a:pt x="0" y="251203"/>
                      <a:pt x="0" y="192014"/>
                    </a:cubicBezTo>
                    <a:lnTo>
                      <a:pt x="0" y="107171"/>
                    </a:lnTo>
                    <a:cubicBezTo>
                      <a:pt x="0" y="78748"/>
                      <a:pt x="11291" y="51488"/>
                      <a:pt x="31390" y="31390"/>
                    </a:cubicBezTo>
                    <a:cubicBezTo>
                      <a:pt x="51488" y="11291"/>
                      <a:pt x="78748" y="0"/>
                      <a:pt x="107171" y="0"/>
                    </a:cubicBezTo>
                    <a:close/>
                  </a:path>
                </a:pathLst>
              </a:custGeom>
              <a:solidFill>
                <a:srgbClr val="284B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19"/>
              <p:cNvSpPr txBox="1"/>
              <p:nvPr/>
            </p:nvSpPr>
            <p:spPr>
              <a:xfrm>
                <a:off x="0" y="57150"/>
                <a:ext cx="970317" cy="242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93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Frontend and Dashboard</a:t>
                </a:r>
                <a:endParaRPr/>
              </a:p>
            </p:txBody>
          </p:sp>
        </p:grpSp>
      </p:grpSp>
      <p:grpSp>
        <p:nvGrpSpPr>
          <p:cNvPr id="204" name="Google Shape;204;p19"/>
          <p:cNvGrpSpPr/>
          <p:nvPr/>
        </p:nvGrpSpPr>
        <p:grpSpPr>
          <a:xfrm>
            <a:off x="9144000" y="3600450"/>
            <a:ext cx="7911906" cy="6168521"/>
            <a:chOff x="0" y="0"/>
            <a:chExt cx="10549209" cy="8224695"/>
          </a:xfrm>
        </p:grpSpPr>
        <p:grpSp>
          <p:nvGrpSpPr>
            <p:cNvPr id="205" name="Google Shape;205;p19"/>
            <p:cNvGrpSpPr/>
            <p:nvPr/>
          </p:nvGrpSpPr>
          <p:grpSpPr>
            <a:xfrm>
              <a:off x="0" y="0"/>
              <a:ext cx="10549209" cy="8224695"/>
              <a:chOff x="0" y="0"/>
              <a:chExt cx="2083794" cy="1624631"/>
            </a:xfrm>
          </p:grpSpPr>
          <p:sp>
            <p:nvSpPr>
              <p:cNvPr id="206" name="Google Shape;206;p19"/>
              <p:cNvSpPr/>
              <p:nvPr/>
            </p:nvSpPr>
            <p:spPr>
              <a:xfrm>
                <a:off x="0" y="0"/>
                <a:ext cx="2083794" cy="1624631"/>
              </a:xfrm>
              <a:custGeom>
                <a:avLst/>
                <a:gdLst/>
                <a:ahLst/>
                <a:cxnLst/>
                <a:rect l="l" t="t" r="r" b="b"/>
                <a:pathLst>
                  <a:path w="2083794" h="1624631" extrusionOk="0">
                    <a:moveTo>
                      <a:pt x="49904" y="0"/>
                    </a:moveTo>
                    <a:lnTo>
                      <a:pt x="2033890" y="0"/>
                    </a:lnTo>
                    <a:cubicBezTo>
                      <a:pt x="2047125" y="0"/>
                      <a:pt x="2059819" y="5258"/>
                      <a:pt x="2069178" y="14617"/>
                    </a:cubicBezTo>
                    <a:cubicBezTo>
                      <a:pt x="2078537" y="23975"/>
                      <a:pt x="2083794" y="36669"/>
                      <a:pt x="2083794" y="49904"/>
                    </a:cubicBezTo>
                    <a:lnTo>
                      <a:pt x="2083794" y="1574727"/>
                    </a:lnTo>
                    <a:cubicBezTo>
                      <a:pt x="2083794" y="1602288"/>
                      <a:pt x="2061451" y="1624631"/>
                      <a:pt x="2033890" y="1624631"/>
                    </a:cubicBezTo>
                    <a:lnTo>
                      <a:pt x="49904" y="1624631"/>
                    </a:lnTo>
                    <a:cubicBezTo>
                      <a:pt x="36669" y="1624631"/>
                      <a:pt x="23975" y="1619373"/>
                      <a:pt x="14617" y="1610015"/>
                    </a:cubicBezTo>
                    <a:cubicBezTo>
                      <a:pt x="5258" y="1600656"/>
                      <a:pt x="0" y="1587962"/>
                      <a:pt x="0" y="1574727"/>
                    </a:cubicBezTo>
                    <a:lnTo>
                      <a:pt x="0" y="49904"/>
                    </a:lnTo>
                    <a:cubicBezTo>
                      <a:pt x="0" y="36669"/>
                      <a:pt x="5258" y="23975"/>
                      <a:pt x="14617" y="14617"/>
                    </a:cubicBezTo>
                    <a:cubicBezTo>
                      <a:pt x="23975" y="5258"/>
                      <a:pt x="36669" y="0"/>
                      <a:pt x="49904" y="0"/>
                    </a:cubicBezTo>
                    <a:close/>
                  </a:path>
                </a:pathLst>
              </a:custGeom>
              <a:solidFill>
                <a:srgbClr val="FEA9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9"/>
              <p:cNvSpPr txBox="1"/>
              <p:nvPr/>
            </p:nvSpPr>
            <p:spPr>
              <a:xfrm>
                <a:off x="0" y="133350"/>
                <a:ext cx="2083794" cy="14912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b" anchorCtr="0">
                <a:noAutofit/>
              </a:bodyPr>
              <a:lstStyle/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600" b="1">
                    <a:solidFill>
                      <a:srgbClr val="284B71"/>
                    </a:solidFill>
                  </a:rPr>
                  <a:t>This is our infrastructure: Local System </a:t>
                </a:r>
                <a:endParaRPr sz="4600"/>
              </a:p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000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500" b="1" i="0" u="none" strike="noStrike" cap="none">
                    <a:solidFill>
                      <a:srgbClr val="284B71"/>
                    </a:solidFill>
                    <a:latin typeface="Arial"/>
                    <a:ea typeface="Arial"/>
                    <a:cs typeface="Arial"/>
                    <a:sym typeface="Arial"/>
                  </a:rPr>
                  <a:t>Because it can</a:t>
                </a:r>
                <a:r>
                  <a:rPr lang="en-US" sz="4500" b="1">
                    <a:solidFill>
                      <a:srgbClr val="284B71"/>
                    </a:solidFill>
                  </a:rPr>
                  <a:t> </a:t>
                </a:r>
                <a:br>
                  <a:rPr lang="en-US" sz="4500" b="1">
                    <a:solidFill>
                      <a:srgbClr val="284B71"/>
                    </a:solidFill>
                  </a:rPr>
                </a:br>
                <a:r>
                  <a:rPr lang="en-US" sz="4500" b="1">
                    <a:solidFill>
                      <a:srgbClr val="284B71"/>
                    </a:solidFill>
                  </a:rPr>
                  <a:t>Store and process image data.</a:t>
                </a:r>
                <a:br>
                  <a:rPr lang="en-US" sz="4500" b="1">
                    <a:solidFill>
                      <a:srgbClr val="284B71"/>
                    </a:solidFill>
                  </a:rPr>
                </a:br>
                <a:r>
                  <a:rPr lang="en-US" sz="4500" b="1">
                    <a:solidFill>
                      <a:srgbClr val="284B71"/>
                    </a:solidFill>
                  </a:rPr>
                  <a:t>Support real-time prediction.</a:t>
                </a:r>
                <a:endParaRPr sz="4500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208;p19"/>
            <p:cNvGrpSpPr/>
            <p:nvPr/>
          </p:nvGrpSpPr>
          <p:grpSpPr>
            <a:xfrm>
              <a:off x="0" y="0"/>
              <a:ext cx="4912231" cy="1514628"/>
              <a:chOff x="0" y="0"/>
              <a:chExt cx="970317" cy="299186"/>
            </a:xfrm>
          </p:grpSpPr>
          <p:sp>
            <p:nvSpPr>
              <p:cNvPr id="209" name="Google Shape;209;p19"/>
              <p:cNvSpPr/>
              <p:nvPr/>
            </p:nvSpPr>
            <p:spPr>
              <a:xfrm>
                <a:off x="0" y="0"/>
                <a:ext cx="970317" cy="299186"/>
              </a:xfrm>
              <a:custGeom>
                <a:avLst/>
                <a:gdLst/>
                <a:ahLst/>
                <a:cxnLst/>
                <a:rect l="l" t="t" r="r" b="b"/>
                <a:pathLst>
                  <a:path w="970317" h="299186" extrusionOk="0">
                    <a:moveTo>
                      <a:pt x="107171" y="0"/>
                    </a:moveTo>
                    <a:lnTo>
                      <a:pt x="863146" y="0"/>
                    </a:lnTo>
                    <a:cubicBezTo>
                      <a:pt x="922335" y="0"/>
                      <a:pt x="970317" y="47982"/>
                      <a:pt x="970317" y="107171"/>
                    </a:cubicBezTo>
                    <a:lnTo>
                      <a:pt x="970317" y="192014"/>
                    </a:lnTo>
                    <a:cubicBezTo>
                      <a:pt x="970317" y="220438"/>
                      <a:pt x="959026" y="247697"/>
                      <a:pt x="938927" y="267796"/>
                    </a:cubicBezTo>
                    <a:cubicBezTo>
                      <a:pt x="918829" y="287895"/>
                      <a:pt x="891570" y="299186"/>
                      <a:pt x="863146" y="299186"/>
                    </a:cubicBezTo>
                    <a:lnTo>
                      <a:pt x="107171" y="299186"/>
                    </a:lnTo>
                    <a:cubicBezTo>
                      <a:pt x="47982" y="299186"/>
                      <a:pt x="0" y="251203"/>
                      <a:pt x="0" y="192014"/>
                    </a:cubicBezTo>
                    <a:lnTo>
                      <a:pt x="0" y="107171"/>
                    </a:lnTo>
                    <a:cubicBezTo>
                      <a:pt x="0" y="78748"/>
                      <a:pt x="11291" y="51488"/>
                      <a:pt x="31390" y="31390"/>
                    </a:cubicBezTo>
                    <a:cubicBezTo>
                      <a:pt x="51488" y="11291"/>
                      <a:pt x="78748" y="0"/>
                      <a:pt x="107171" y="0"/>
                    </a:cubicBezTo>
                    <a:close/>
                  </a:path>
                </a:pathLst>
              </a:custGeom>
              <a:solidFill>
                <a:srgbClr val="284B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9"/>
              <p:cNvSpPr txBox="1"/>
              <p:nvPr/>
            </p:nvSpPr>
            <p:spPr>
              <a:xfrm>
                <a:off x="0" y="57150"/>
                <a:ext cx="970317" cy="242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93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Infrastructure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0"/>
            </a:stretch>
          </a:blipFill>
          <a:ln>
            <a:noFill/>
          </a:ln>
        </p:spPr>
      </p:sp>
      <p:sp>
        <p:nvSpPr>
          <p:cNvPr id="216" name="Google Shape;216;p20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17" name="Google Shape;217;p20"/>
          <p:cNvGrpSpPr/>
          <p:nvPr/>
        </p:nvGrpSpPr>
        <p:grpSpPr>
          <a:xfrm>
            <a:off x="610160" y="3598446"/>
            <a:ext cx="5589416" cy="6168634"/>
            <a:chOff x="0" y="0"/>
            <a:chExt cx="1472100" cy="1624650"/>
          </a:xfrm>
        </p:grpSpPr>
        <p:sp>
          <p:nvSpPr>
            <p:cNvPr id="218" name="Google Shape;218;p20"/>
            <p:cNvSpPr/>
            <p:nvPr/>
          </p:nvSpPr>
          <p:spPr>
            <a:xfrm>
              <a:off x="0" y="0"/>
              <a:ext cx="1472076" cy="1624631"/>
            </a:xfrm>
            <a:custGeom>
              <a:avLst/>
              <a:gdLst/>
              <a:ahLst/>
              <a:cxnLst/>
              <a:rect l="l" t="t" r="r" b="b"/>
              <a:pathLst>
                <a:path w="1472076" h="1624631" extrusionOk="0">
                  <a:moveTo>
                    <a:pt x="70642" y="0"/>
                  </a:moveTo>
                  <a:lnTo>
                    <a:pt x="1401434" y="0"/>
                  </a:lnTo>
                  <a:cubicBezTo>
                    <a:pt x="1440449" y="0"/>
                    <a:pt x="1472076" y="31627"/>
                    <a:pt x="1472076" y="70642"/>
                  </a:cubicBezTo>
                  <a:lnTo>
                    <a:pt x="1472076" y="1553989"/>
                  </a:lnTo>
                  <a:cubicBezTo>
                    <a:pt x="1472076" y="1593004"/>
                    <a:pt x="1440449" y="1624631"/>
                    <a:pt x="1401434" y="1624631"/>
                  </a:cubicBezTo>
                  <a:lnTo>
                    <a:pt x="70642" y="1624631"/>
                  </a:lnTo>
                  <a:cubicBezTo>
                    <a:pt x="31627" y="1624631"/>
                    <a:pt x="0" y="1593004"/>
                    <a:pt x="0" y="1553989"/>
                  </a:cubicBezTo>
                  <a:lnTo>
                    <a:pt x="0" y="70642"/>
                  </a:lnTo>
                  <a:cubicBezTo>
                    <a:pt x="0" y="31627"/>
                    <a:pt x="31627" y="0"/>
                    <a:pt x="70642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0" y="133350"/>
              <a:ext cx="1472100" cy="149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" name="Google Shape;220;p20"/>
          <p:cNvGrpSpPr/>
          <p:nvPr/>
        </p:nvGrpSpPr>
        <p:grpSpPr>
          <a:xfrm>
            <a:off x="610160" y="3598446"/>
            <a:ext cx="2602775" cy="1136222"/>
            <a:chOff x="0" y="0"/>
            <a:chExt cx="685500" cy="299250"/>
          </a:xfrm>
        </p:grpSpPr>
        <p:sp>
          <p:nvSpPr>
            <p:cNvPr id="221" name="Google Shape;221;p20"/>
            <p:cNvSpPr/>
            <p:nvPr/>
          </p:nvSpPr>
          <p:spPr>
            <a:xfrm>
              <a:off x="0" y="0"/>
              <a:ext cx="685471" cy="299186"/>
            </a:xfrm>
            <a:custGeom>
              <a:avLst/>
              <a:gdLst/>
              <a:ahLst/>
              <a:cxnLst/>
              <a:rect l="l" t="t" r="r" b="b"/>
              <a:pathLst>
                <a:path w="685471" h="299186" extrusionOk="0">
                  <a:moveTo>
                    <a:pt x="149593" y="0"/>
                  </a:moveTo>
                  <a:lnTo>
                    <a:pt x="535878" y="0"/>
                  </a:lnTo>
                  <a:cubicBezTo>
                    <a:pt x="575553" y="0"/>
                    <a:pt x="613602" y="15761"/>
                    <a:pt x="641656" y="43815"/>
                  </a:cubicBezTo>
                  <a:cubicBezTo>
                    <a:pt x="669710" y="71869"/>
                    <a:pt x="685471" y="109918"/>
                    <a:pt x="685471" y="149593"/>
                  </a:cubicBezTo>
                  <a:lnTo>
                    <a:pt x="685471" y="149593"/>
                  </a:lnTo>
                  <a:cubicBezTo>
                    <a:pt x="685471" y="189267"/>
                    <a:pt x="669710" y="227317"/>
                    <a:pt x="641656" y="255371"/>
                  </a:cubicBezTo>
                  <a:cubicBezTo>
                    <a:pt x="613602" y="283425"/>
                    <a:pt x="575553" y="299186"/>
                    <a:pt x="535878" y="299186"/>
                  </a:cubicBezTo>
                  <a:lnTo>
                    <a:pt x="149593" y="299186"/>
                  </a:lnTo>
                  <a:cubicBezTo>
                    <a:pt x="109918" y="299186"/>
                    <a:pt x="71869" y="283425"/>
                    <a:pt x="43815" y="255371"/>
                  </a:cubicBezTo>
                  <a:cubicBezTo>
                    <a:pt x="15761" y="227317"/>
                    <a:pt x="0" y="189267"/>
                    <a:pt x="0" y="149593"/>
                  </a:cubicBezTo>
                  <a:lnTo>
                    <a:pt x="0" y="149593"/>
                  </a:lnTo>
                  <a:cubicBezTo>
                    <a:pt x="0" y="109918"/>
                    <a:pt x="15761" y="71869"/>
                    <a:pt x="43815" y="43815"/>
                  </a:cubicBezTo>
                  <a:cubicBezTo>
                    <a:pt x="71869" y="15761"/>
                    <a:pt x="109918" y="0"/>
                    <a:pt x="1495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0"/>
            <p:cNvSpPr txBox="1"/>
            <p:nvPr/>
          </p:nvSpPr>
          <p:spPr>
            <a:xfrm>
              <a:off x="0" y="57150"/>
              <a:ext cx="685500" cy="24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3" b="1">
                  <a:solidFill>
                    <a:srgbClr val="FFFFFF"/>
                  </a:solidFill>
                </a:rPr>
                <a:t>Patient</a:t>
              </a:r>
              <a:endParaRPr sz="1793" b="1">
                <a:solidFill>
                  <a:srgbClr val="FFFFFF"/>
                </a:solidFill>
              </a:endParaRPr>
            </a:p>
            <a:p>
              <a:pPr marL="0" marR="0" lvl="0" indent="0" algn="ctr" rtl="0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3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Perspective 1</a:t>
              </a:r>
              <a:endParaRPr/>
            </a:p>
          </p:txBody>
        </p:sp>
      </p:grpSp>
      <p:grpSp>
        <p:nvGrpSpPr>
          <p:cNvPr id="223" name="Google Shape;223;p20"/>
          <p:cNvGrpSpPr/>
          <p:nvPr/>
        </p:nvGrpSpPr>
        <p:grpSpPr>
          <a:xfrm>
            <a:off x="6343134" y="3598446"/>
            <a:ext cx="5589416" cy="6168634"/>
            <a:chOff x="0" y="0"/>
            <a:chExt cx="1472100" cy="1624650"/>
          </a:xfrm>
        </p:grpSpPr>
        <p:sp>
          <p:nvSpPr>
            <p:cNvPr id="224" name="Google Shape;224;p20"/>
            <p:cNvSpPr/>
            <p:nvPr/>
          </p:nvSpPr>
          <p:spPr>
            <a:xfrm>
              <a:off x="0" y="0"/>
              <a:ext cx="1472076" cy="1624631"/>
            </a:xfrm>
            <a:custGeom>
              <a:avLst/>
              <a:gdLst/>
              <a:ahLst/>
              <a:cxnLst/>
              <a:rect l="l" t="t" r="r" b="b"/>
              <a:pathLst>
                <a:path w="1472076" h="1624631" extrusionOk="0">
                  <a:moveTo>
                    <a:pt x="70642" y="0"/>
                  </a:moveTo>
                  <a:lnTo>
                    <a:pt x="1401434" y="0"/>
                  </a:lnTo>
                  <a:cubicBezTo>
                    <a:pt x="1440449" y="0"/>
                    <a:pt x="1472076" y="31627"/>
                    <a:pt x="1472076" y="70642"/>
                  </a:cubicBezTo>
                  <a:lnTo>
                    <a:pt x="1472076" y="1553989"/>
                  </a:lnTo>
                  <a:cubicBezTo>
                    <a:pt x="1472076" y="1593004"/>
                    <a:pt x="1440449" y="1624631"/>
                    <a:pt x="1401434" y="1624631"/>
                  </a:cubicBezTo>
                  <a:lnTo>
                    <a:pt x="70642" y="1624631"/>
                  </a:lnTo>
                  <a:cubicBezTo>
                    <a:pt x="31627" y="1624631"/>
                    <a:pt x="0" y="1593004"/>
                    <a:pt x="0" y="1553989"/>
                  </a:cubicBezTo>
                  <a:lnTo>
                    <a:pt x="0" y="70642"/>
                  </a:lnTo>
                  <a:cubicBezTo>
                    <a:pt x="0" y="31627"/>
                    <a:pt x="31627" y="0"/>
                    <a:pt x="70642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0"/>
            <p:cNvSpPr txBox="1"/>
            <p:nvPr/>
          </p:nvSpPr>
          <p:spPr>
            <a:xfrm>
              <a:off x="0" y="133350"/>
              <a:ext cx="1472100" cy="149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" name="Google Shape;226;p20"/>
          <p:cNvGrpSpPr/>
          <p:nvPr/>
        </p:nvGrpSpPr>
        <p:grpSpPr>
          <a:xfrm>
            <a:off x="6343134" y="3598446"/>
            <a:ext cx="2602775" cy="1136222"/>
            <a:chOff x="0" y="0"/>
            <a:chExt cx="685500" cy="299250"/>
          </a:xfrm>
        </p:grpSpPr>
        <p:sp>
          <p:nvSpPr>
            <p:cNvPr id="227" name="Google Shape;227;p20"/>
            <p:cNvSpPr/>
            <p:nvPr/>
          </p:nvSpPr>
          <p:spPr>
            <a:xfrm>
              <a:off x="0" y="0"/>
              <a:ext cx="685471" cy="299186"/>
            </a:xfrm>
            <a:custGeom>
              <a:avLst/>
              <a:gdLst/>
              <a:ahLst/>
              <a:cxnLst/>
              <a:rect l="l" t="t" r="r" b="b"/>
              <a:pathLst>
                <a:path w="685471" h="299186" extrusionOk="0">
                  <a:moveTo>
                    <a:pt x="149593" y="0"/>
                  </a:moveTo>
                  <a:lnTo>
                    <a:pt x="535878" y="0"/>
                  </a:lnTo>
                  <a:cubicBezTo>
                    <a:pt x="575553" y="0"/>
                    <a:pt x="613602" y="15761"/>
                    <a:pt x="641656" y="43815"/>
                  </a:cubicBezTo>
                  <a:cubicBezTo>
                    <a:pt x="669710" y="71869"/>
                    <a:pt x="685471" y="109918"/>
                    <a:pt x="685471" y="149593"/>
                  </a:cubicBezTo>
                  <a:lnTo>
                    <a:pt x="685471" y="149593"/>
                  </a:lnTo>
                  <a:cubicBezTo>
                    <a:pt x="685471" y="189267"/>
                    <a:pt x="669710" y="227317"/>
                    <a:pt x="641656" y="255371"/>
                  </a:cubicBezTo>
                  <a:cubicBezTo>
                    <a:pt x="613602" y="283425"/>
                    <a:pt x="575553" y="299186"/>
                    <a:pt x="535878" y="299186"/>
                  </a:cubicBezTo>
                  <a:lnTo>
                    <a:pt x="149593" y="299186"/>
                  </a:lnTo>
                  <a:cubicBezTo>
                    <a:pt x="109918" y="299186"/>
                    <a:pt x="71869" y="283425"/>
                    <a:pt x="43815" y="255371"/>
                  </a:cubicBezTo>
                  <a:cubicBezTo>
                    <a:pt x="15761" y="227317"/>
                    <a:pt x="0" y="189267"/>
                    <a:pt x="0" y="149593"/>
                  </a:cubicBezTo>
                  <a:lnTo>
                    <a:pt x="0" y="149593"/>
                  </a:lnTo>
                  <a:cubicBezTo>
                    <a:pt x="0" y="109918"/>
                    <a:pt x="15761" y="71869"/>
                    <a:pt x="43815" y="43815"/>
                  </a:cubicBezTo>
                  <a:cubicBezTo>
                    <a:pt x="71869" y="15761"/>
                    <a:pt x="109918" y="0"/>
                    <a:pt x="1495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0"/>
            <p:cNvSpPr txBox="1"/>
            <p:nvPr/>
          </p:nvSpPr>
          <p:spPr>
            <a:xfrm>
              <a:off x="0" y="57150"/>
              <a:ext cx="685500" cy="24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3" b="1">
                  <a:solidFill>
                    <a:srgbClr val="FFFFFF"/>
                  </a:solidFill>
                </a:rPr>
                <a:t>System</a:t>
              </a:r>
              <a:endParaRPr sz="1793" b="1">
                <a:solidFill>
                  <a:srgbClr val="FFFFFF"/>
                </a:solidFill>
              </a:endParaRPr>
            </a:p>
            <a:p>
              <a:pPr marL="0" marR="0" lvl="0" indent="0" algn="ctr" rtl="0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3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Perspective 2</a:t>
              </a:r>
              <a:endParaRPr/>
            </a:p>
          </p:txBody>
        </p:sp>
      </p:grpSp>
      <p:grpSp>
        <p:nvGrpSpPr>
          <p:cNvPr id="229" name="Google Shape;229;p20"/>
          <p:cNvGrpSpPr/>
          <p:nvPr/>
        </p:nvGrpSpPr>
        <p:grpSpPr>
          <a:xfrm>
            <a:off x="12076009" y="3598446"/>
            <a:ext cx="5589416" cy="6168634"/>
            <a:chOff x="0" y="0"/>
            <a:chExt cx="1472100" cy="1624650"/>
          </a:xfrm>
        </p:grpSpPr>
        <p:sp>
          <p:nvSpPr>
            <p:cNvPr id="230" name="Google Shape;230;p20"/>
            <p:cNvSpPr/>
            <p:nvPr/>
          </p:nvSpPr>
          <p:spPr>
            <a:xfrm>
              <a:off x="0" y="0"/>
              <a:ext cx="1472076" cy="1624631"/>
            </a:xfrm>
            <a:custGeom>
              <a:avLst/>
              <a:gdLst/>
              <a:ahLst/>
              <a:cxnLst/>
              <a:rect l="l" t="t" r="r" b="b"/>
              <a:pathLst>
                <a:path w="1472076" h="1624631" extrusionOk="0">
                  <a:moveTo>
                    <a:pt x="70642" y="0"/>
                  </a:moveTo>
                  <a:lnTo>
                    <a:pt x="1401434" y="0"/>
                  </a:lnTo>
                  <a:cubicBezTo>
                    <a:pt x="1440449" y="0"/>
                    <a:pt x="1472076" y="31627"/>
                    <a:pt x="1472076" y="70642"/>
                  </a:cubicBezTo>
                  <a:lnTo>
                    <a:pt x="1472076" y="1553989"/>
                  </a:lnTo>
                  <a:cubicBezTo>
                    <a:pt x="1472076" y="1593004"/>
                    <a:pt x="1440449" y="1624631"/>
                    <a:pt x="1401434" y="1624631"/>
                  </a:cubicBezTo>
                  <a:lnTo>
                    <a:pt x="70642" y="1624631"/>
                  </a:lnTo>
                  <a:cubicBezTo>
                    <a:pt x="31627" y="1624631"/>
                    <a:pt x="0" y="1593004"/>
                    <a:pt x="0" y="1553989"/>
                  </a:cubicBezTo>
                  <a:lnTo>
                    <a:pt x="0" y="70642"/>
                  </a:lnTo>
                  <a:cubicBezTo>
                    <a:pt x="0" y="31627"/>
                    <a:pt x="31627" y="0"/>
                    <a:pt x="70642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0"/>
            <p:cNvSpPr txBox="1"/>
            <p:nvPr/>
          </p:nvSpPr>
          <p:spPr>
            <a:xfrm>
              <a:off x="0" y="133350"/>
              <a:ext cx="1472100" cy="149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" name="Google Shape;232;p20"/>
          <p:cNvGrpSpPr/>
          <p:nvPr/>
        </p:nvGrpSpPr>
        <p:grpSpPr>
          <a:xfrm>
            <a:off x="12076108" y="3598446"/>
            <a:ext cx="2602775" cy="1136222"/>
            <a:chOff x="0" y="0"/>
            <a:chExt cx="685500" cy="299250"/>
          </a:xfrm>
        </p:grpSpPr>
        <p:sp>
          <p:nvSpPr>
            <p:cNvPr id="233" name="Google Shape;233;p20"/>
            <p:cNvSpPr/>
            <p:nvPr/>
          </p:nvSpPr>
          <p:spPr>
            <a:xfrm>
              <a:off x="0" y="0"/>
              <a:ext cx="685471" cy="299186"/>
            </a:xfrm>
            <a:custGeom>
              <a:avLst/>
              <a:gdLst/>
              <a:ahLst/>
              <a:cxnLst/>
              <a:rect l="l" t="t" r="r" b="b"/>
              <a:pathLst>
                <a:path w="685471" h="299186" extrusionOk="0">
                  <a:moveTo>
                    <a:pt x="149593" y="0"/>
                  </a:moveTo>
                  <a:lnTo>
                    <a:pt x="535878" y="0"/>
                  </a:lnTo>
                  <a:cubicBezTo>
                    <a:pt x="575553" y="0"/>
                    <a:pt x="613602" y="15761"/>
                    <a:pt x="641656" y="43815"/>
                  </a:cubicBezTo>
                  <a:cubicBezTo>
                    <a:pt x="669710" y="71869"/>
                    <a:pt x="685471" y="109918"/>
                    <a:pt x="685471" y="149593"/>
                  </a:cubicBezTo>
                  <a:lnTo>
                    <a:pt x="685471" y="149593"/>
                  </a:lnTo>
                  <a:cubicBezTo>
                    <a:pt x="685471" y="189267"/>
                    <a:pt x="669710" y="227317"/>
                    <a:pt x="641656" y="255371"/>
                  </a:cubicBezTo>
                  <a:cubicBezTo>
                    <a:pt x="613602" y="283425"/>
                    <a:pt x="575553" y="299186"/>
                    <a:pt x="535878" y="299186"/>
                  </a:cubicBezTo>
                  <a:lnTo>
                    <a:pt x="149593" y="299186"/>
                  </a:lnTo>
                  <a:cubicBezTo>
                    <a:pt x="109918" y="299186"/>
                    <a:pt x="71869" y="283425"/>
                    <a:pt x="43815" y="255371"/>
                  </a:cubicBezTo>
                  <a:cubicBezTo>
                    <a:pt x="15761" y="227317"/>
                    <a:pt x="0" y="189267"/>
                    <a:pt x="0" y="149593"/>
                  </a:cubicBezTo>
                  <a:lnTo>
                    <a:pt x="0" y="149593"/>
                  </a:lnTo>
                  <a:cubicBezTo>
                    <a:pt x="0" y="109918"/>
                    <a:pt x="15761" y="71869"/>
                    <a:pt x="43815" y="43815"/>
                  </a:cubicBezTo>
                  <a:cubicBezTo>
                    <a:pt x="71869" y="15761"/>
                    <a:pt x="109918" y="0"/>
                    <a:pt x="1495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0"/>
            <p:cNvSpPr txBox="1"/>
            <p:nvPr/>
          </p:nvSpPr>
          <p:spPr>
            <a:xfrm>
              <a:off x="0" y="57150"/>
              <a:ext cx="685500" cy="24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3" b="1">
                  <a:solidFill>
                    <a:srgbClr val="FFFFFF"/>
                  </a:solidFill>
                </a:rPr>
                <a:t>Doctor</a:t>
              </a:r>
              <a:endParaRPr sz="1793" b="1">
                <a:solidFill>
                  <a:srgbClr val="FFFFFF"/>
                </a:solidFill>
              </a:endParaRPr>
            </a:p>
            <a:p>
              <a:pPr marL="0" marR="0" lvl="0" indent="0" algn="ctr" rtl="0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3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Perspective 3</a:t>
              </a:r>
              <a:endParaRPr/>
            </a:p>
          </p:txBody>
        </p:sp>
      </p:grpSp>
      <p:sp>
        <p:nvSpPr>
          <p:cNvPr id="235" name="Google Shape;235;p20"/>
          <p:cNvSpPr txBox="1"/>
          <p:nvPr/>
        </p:nvSpPr>
        <p:spPr>
          <a:xfrm>
            <a:off x="1028700" y="1902270"/>
            <a:ext cx="7155900" cy="13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 Flow </a:t>
            </a:r>
            <a:r>
              <a:rPr lang="en-US" sz="7597" b="1" i="0" u="none" strike="noStrike" cap="non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marR="0" lvl="0" indent="0" algn="l" rtl="0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597" b="1" i="0" u="none" strike="noStrike" cap="none">
              <a:solidFill>
                <a:srgbClr val="1497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150" y="4734425"/>
            <a:ext cx="5589423" cy="503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3125" y="4734675"/>
            <a:ext cx="5589423" cy="503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076100" y="4734425"/>
            <a:ext cx="5589423" cy="503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</p:sp>
      <p:sp>
        <p:nvSpPr>
          <p:cNvPr id="244" name="Google Shape;244;p21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45" name="Google Shape;245;p21"/>
          <p:cNvGrpSpPr/>
          <p:nvPr/>
        </p:nvGrpSpPr>
        <p:grpSpPr>
          <a:xfrm>
            <a:off x="1113756" y="3530943"/>
            <a:ext cx="11698816" cy="1721385"/>
            <a:chOff x="0" y="0"/>
            <a:chExt cx="3081170" cy="453369"/>
          </a:xfrm>
        </p:grpSpPr>
        <p:sp>
          <p:nvSpPr>
            <p:cNvPr id="246" name="Google Shape;246;p21"/>
            <p:cNvSpPr/>
            <p:nvPr/>
          </p:nvSpPr>
          <p:spPr>
            <a:xfrm>
              <a:off x="0" y="0"/>
              <a:ext cx="3081170" cy="453369"/>
            </a:xfrm>
            <a:custGeom>
              <a:avLst/>
              <a:gdLst/>
              <a:ahLst/>
              <a:cxnLst/>
              <a:rect l="l" t="t" r="r" b="b"/>
              <a:pathLst>
                <a:path w="3081170" h="453369" extrusionOk="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1"/>
            <p:cNvSpPr txBox="1"/>
            <p:nvPr/>
          </p:nvSpPr>
          <p:spPr>
            <a:xfrm>
              <a:off x="0" y="76200"/>
              <a:ext cx="3081170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Accuracy</a:t>
              </a:r>
              <a:endParaRPr/>
            </a:p>
          </p:txBody>
        </p:sp>
      </p:grpSp>
      <p:sp>
        <p:nvSpPr>
          <p:cNvPr id="248" name="Google Shape;248;p21"/>
          <p:cNvSpPr txBox="1"/>
          <p:nvPr/>
        </p:nvSpPr>
        <p:spPr>
          <a:xfrm>
            <a:off x="1113756" y="1980779"/>
            <a:ext cx="9486007" cy="119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Expected Outcome </a:t>
            </a:r>
            <a:r>
              <a:rPr lang="en-US" sz="7597" b="1" i="0" u="none" strike="noStrike" cap="non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249" name="Google Shape;249;p21"/>
          <p:cNvGrpSpPr/>
          <p:nvPr/>
        </p:nvGrpSpPr>
        <p:grpSpPr>
          <a:xfrm>
            <a:off x="13138436" y="3530943"/>
            <a:ext cx="3687818" cy="1721385"/>
            <a:chOff x="0" y="0"/>
            <a:chExt cx="971277" cy="453369"/>
          </a:xfrm>
        </p:grpSpPr>
        <p:sp>
          <p:nvSpPr>
            <p:cNvPr id="250" name="Google Shape;250;p21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1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284B71"/>
                  </a:solidFill>
                </a:rPr>
                <a:t>~90</a:t>
              </a:r>
              <a:r>
                <a:rPr lang="en-US" sz="2993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%</a:t>
              </a:r>
              <a:endParaRPr/>
            </a:p>
          </p:txBody>
        </p:sp>
      </p:grpSp>
      <p:grpSp>
        <p:nvGrpSpPr>
          <p:cNvPr id="252" name="Google Shape;252;p21"/>
          <p:cNvGrpSpPr/>
          <p:nvPr/>
        </p:nvGrpSpPr>
        <p:grpSpPr>
          <a:xfrm>
            <a:off x="13138436" y="5454569"/>
            <a:ext cx="3687818" cy="1721385"/>
            <a:chOff x="0" y="0"/>
            <a:chExt cx="971277" cy="453369"/>
          </a:xfrm>
        </p:grpSpPr>
        <p:sp>
          <p:nvSpPr>
            <p:cNvPr id="253" name="Google Shape;253;p21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1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993" b="1">
                <a:solidFill>
                  <a:srgbClr val="284B71"/>
                </a:solidFill>
              </a:endParaRPr>
            </a:p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284B71"/>
                  </a:solidFill>
                </a:rPr>
                <a:t>&lt;10</a:t>
              </a:r>
              <a:r>
                <a:rPr lang="en-US" sz="2993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 Seconds</a:t>
              </a:r>
              <a:endParaRPr/>
            </a:p>
          </p:txBody>
        </p:sp>
      </p:grpSp>
      <p:grpSp>
        <p:nvGrpSpPr>
          <p:cNvPr id="255" name="Google Shape;255;p21"/>
          <p:cNvGrpSpPr/>
          <p:nvPr/>
        </p:nvGrpSpPr>
        <p:grpSpPr>
          <a:xfrm>
            <a:off x="1113756" y="5461877"/>
            <a:ext cx="11698816" cy="1721385"/>
            <a:chOff x="0" y="0"/>
            <a:chExt cx="3081170" cy="453369"/>
          </a:xfrm>
        </p:grpSpPr>
        <p:sp>
          <p:nvSpPr>
            <p:cNvPr id="256" name="Google Shape;256;p21"/>
            <p:cNvSpPr/>
            <p:nvPr/>
          </p:nvSpPr>
          <p:spPr>
            <a:xfrm>
              <a:off x="0" y="0"/>
              <a:ext cx="3081170" cy="453369"/>
            </a:xfrm>
            <a:custGeom>
              <a:avLst/>
              <a:gdLst/>
              <a:ahLst/>
              <a:cxnLst/>
              <a:rect l="l" t="t" r="r" b="b"/>
              <a:pathLst>
                <a:path w="3081170" h="453369" extrusionOk="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1"/>
            <p:cNvSpPr txBox="1"/>
            <p:nvPr/>
          </p:nvSpPr>
          <p:spPr>
            <a:xfrm>
              <a:off x="0" y="76200"/>
              <a:ext cx="3081170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FEA928"/>
                  </a:solidFill>
                </a:rPr>
                <a:t>Prediction Time</a:t>
              </a:r>
              <a:endParaRPr/>
            </a:p>
          </p:txBody>
        </p:sp>
      </p:grpSp>
      <p:grpSp>
        <p:nvGrpSpPr>
          <p:cNvPr id="258" name="Google Shape;258;p21"/>
          <p:cNvGrpSpPr/>
          <p:nvPr/>
        </p:nvGrpSpPr>
        <p:grpSpPr>
          <a:xfrm>
            <a:off x="13138436" y="7392812"/>
            <a:ext cx="3687818" cy="1721385"/>
            <a:chOff x="0" y="0"/>
            <a:chExt cx="971277" cy="453369"/>
          </a:xfrm>
        </p:grpSpPr>
        <p:sp>
          <p:nvSpPr>
            <p:cNvPr id="259" name="Google Shape;259;p21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1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284B71"/>
                  </a:solidFill>
                </a:rPr>
                <a:t>Stage wise classification of retinopathy</a:t>
              </a:r>
              <a:endParaRPr/>
            </a:p>
          </p:txBody>
        </p:sp>
      </p:grpSp>
      <p:grpSp>
        <p:nvGrpSpPr>
          <p:cNvPr id="261" name="Google Shape;261;p21"/>
          <p:cNvGrpSpPr/>
          <p:nvPr/>
        </p:nvGrpSpPr>
        <p:grpSpPr>
          <a:xfrm>
            <a:off x="1113756" y="7400121"/>
            <a:ext cx="11698816" cy="1721385"/>
            <a:chOff x="0" y="0"/>
            <a:chExt cx="3081170" cy="453369"/>
          </a:xfrm>
        </p:grpSpPr>
        <p:sp>
          <p:nvSpPr>
            <p:cNvPr id="262" name="Google Shape;262;p21"/>
            <p:cNvSpPr/>
            <p:nvPr/>
          </p:nvSpPr>
          <p:spPr>
            <a:xfrm>
              <a:off x="0" y="0"/>
              <a:ext cx="3081170" cy="453369"/>
            </a:xfrm>
            <a:custGeom>
              <a:avLst/>
              <a:gdLst/>
              <a:ahLst/>
              <a:cxnLst/>
              <a:rect l="l" t="t" r="r" b="b"/>
              <a:pathLst>
                <a:path w="3081170" h="453369" extrusionOk="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1"/>
            <p:cNvSpPr txBox="1"/>
            <p:nvPr/>
          </p:nvSpPr>
          <p:spPr>
            <a:xfrm>
              <a:off x="0" y="76200"/>
              <a:ext cx="3081170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FEA928"/>
                  </a:solidFill>
                </a:rPr>
                <a:t> Detection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0"/>
            </a:stretch>
          </a:blipFill>
          <a:ln>
            <a:noFill/>
          </a:ln>
        </p:spPr>
      </p:sp>
      <p:sp>
        <p:nvSpPr>
          <p:cNvPr id="269" name="Google Shape;269;p22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70" name="Google Shape;270;p22"/>
          <p:cNvGrpSpPr/>
          <p:nvPr/>
        </p:nvGrpSpPr>
        <p:grpSpPr>
          <a:xfrm>
            <a:off x="1113756" y="3530943"/>
            <a:ext cx="11699388" cy="1721397"/>
            <a:chOff x="0" y="0"/>
            <a:chExt cx="3081300" cy="453369"/>
          </a:xfrm>
        </p:grpSpPr>
        <p:sp>
          <p:nvSpPr>
            <p:cNvPr id="271" name="Google Shape;271;p22"/>
            <p:cNvSpPr/>
            <p:nvPr/>
          </p:nvSpPr>
          <p:spPr>
            <a:xfrm>
              <a:off x="0" y="0"/>
              <a:ext cx="3081170" cy="453369"/>
            </a:xfrm>
            <a:custGeom>
              <a:avLst/>
              <a:gdLst/>
              <a:ahLst/>
              <a:cxnLst/>
              <a:rect l="l" t="t" r="r" b="b"/>
              <a:pathLst>
                <a:path w="3081170" h="453369" extrusionOk="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2"/>
            <p:cNvSpPr txBox="1"/>
            <p:nvPr/>
          </p:nvSpPr>
          <p:spPr>
            <a:xfrm>
              <a:off x="0" y="76200"/>
              <a:ext cx="3081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Accuracy</a:t>
              </a:r>
              <a:endParaRPr/>
            </a:p>
          </p:txBody>
        </p:sp>
      </p:grpSp>
      <p:sp>
        <p:nvSpPr>
          <p:cNvPr id="273" name="Google Shape;273;p22"/>
          <p:cNvSpPr txBox="1"/>
          <p:nvPr/>
        </p:nvSpPr>
        <p:spPr>
          <a:xfrm>
            <a:off x="1113756" y="1980779"/>
            <a:ext cx="9486000" cy="13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/>
              <a:t>Actual </a:t>
            </a: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Outcome </a:t>
            </a:r>
            <a:r>
              <a:rPr lang="en-US" sz="7597" b="1" i="0" u="none" strike="noStrike" cap="non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274" name="Google Shape;274;p22"/>
          <p:cNvGrpSpPr/>
          <p:nvPr/>
        </p:nvGrpSpPr>
        <p:grpSpPr>
          <a:xfrm>
            <a:off x="13138436" y="3530943"/>
            <a:ext cx="3688309" cy="1721397"/>
            <a:chOff x="0" y="0"/>
            <a:chExt cx="971400" cy="453369"/>
          </a:xfrm>
        </p:grpSpPr>
        <p:sp>
          <p:nvSpPr>
            <p:cNvPr id="275" name="Google Shape;275;p22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2"/>
            <p:cNvSpPr txBox="1"/>
            <p:nvPr/>
          </p:nvSpPr>
          <p:spPr>
            <a:xfrm>
              <a:off x="0" y="76200"/>
              <a:ext cx="9714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85%</a:t>
              </a:r>
              <a:endParaRPr/>
            </a:p>
          </p:txBody>
        </p:sp>
      </p:grpSp>
      <p:grpSp>
        <p:nvGrpSpPr>
          <p:cNvPr id="277" name="Google Shape;277;p22"/>
          <p:cNvGrpSpPr/>
          <p:nvPr/>
        </p:nvGrpSpPr>
        <p:grpSpPr>
          <a:xfrm>
            <a:off x="13138436" y="5454569"/>
            <a:ext cx="3688309" cy="1721397"/>
            <a:chOff x="0" y="0"/>
            <a:chExt cx="971400" cy="453369"/>
          </a:xfrm>
        </p:grpSpPr>
        <p:sp>
          <p:nvSpPr>
            <p:cNvPr id="278" name="Google Shape;278;p22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 txBox="1"/>
            <p:nvPr/>
          </p:nvSpPr>
          <p:spPr>
            <a:xfrm>
              <a:off x="0" y="76200"/>
              <a:ext cx="9714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284B71"/>
                  </a:solidFill>
                </a:rPr>
                <a:t>7-8 </a:t>
              </a:r>
              <a:r>
                <a:rPr lang="en-US" sz="2993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Seconds</a:t>
              </a:r>
              <a:endParaRPr/>
            </a:p>
          </p:txBody>
        </p:sp>
      </p:grpSp>
      <p:grpSp>
        <p:nvGrpSpPr>
          <p:cNvPr id="280" name="Google Shape;280;p22"/>
          <p:cNvGrpSpPr/>
          <p:nvPr/>
        </p:nvGrpSpPr>
        <p:grpSpPr>
          <a:xfrm>
            <a:off x="1113756" y="5461877"/>
            <a:ext cx="11699388" cy="1721397"/>
            <a:chOff x="0" y="0"/>
            <a:chExt cx="3081300" cy="453369"/>
          </a:xfrm>
        </p:grpSpPr>
        <p:sp>
          <p:nvSpPr>
            <p:cNvPr id="281" name="Google Shape;281;p22"/>
            <p:cNvSpPr/>
            <p:nvPr/>
          </p:nvSpPr>
          <p:spPr>
            <a:xfrm>
              <a:off x="0" y="0"/>
              <a:ext cx="3081170" cy="453369"/>
            </a:xfrm>
            <a:custGeom>
              <a:avLst/>
              <a:gdLst/>
              <a:ahLst/>
              <a:cxnLst/>
              <a:rect l="l" t="t" r="r" b="b"/>
              <a:pathLst>
                <a:path w="3081170" h="453369" extrusionOk="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2"/>
            <p:cNvSpPr txBox="1"/>
            <p:nvPr/>
          </p:nvSpPr>
          <p:spPr>
            <a:xfrm>
              <a:off x="0" y="76200"/>
              <a:ext cx="3081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2993" b="1">
                  <a:solidFill>
                    <a:srgbClr val="FEA928"/>
                  </a:solidFill>
                </a:rPr>
                <a:t>Prediction Time</a:t>
              </a:r>
              <a:endParaRPr/>
            </a:p>
          </p:txBody>
        </p:sp>
      </p:grpSp>
      <p:grpSp>
        <p:nvGrpSpPr>
          <p:cNvPr id="283" name="Google Shape;283;p22"/>
          <p:cNvGrpSpPr/>
          <p:nvPr/>
        </p:nvGrpSpPr>
        <p:grpSpPr>
          <a:xfrm>
            <a:off x="13138436" y="7392812"/>
            <a:ext cx="3688309" cy="1721397"/>
            <a:chOff x="0" y="0"/>
            <a:chExt cx="971400" cy="453369"/>
          </a:xfrm>
        </p:grpSpPr>
        <p:sp>
          <p:nvSpPr>
            <p:cNvPr id="284" name="Google Shape;284;p22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2"/>
            <p:cNvSpPr txBox="1"/>
            <p:nvPr/>
          </p:nvSpPr>
          <p:spPr>
            <a:xfrm>
              <a:off x="0" y="76200"/>
              <a:ext cx="9714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284B71"/>
                  </a:solidFill>
                </a:rPr>
                <a:t>Successfully classifies diabetic retinopathy stages</a:t>
              </a:r>
              <a:endParaRPr/>
            </a:p>
          </p:txBody>
        </p:sp>
      </p:grpSp>
      <p:grpSp>
        <p:nvGrpSpPr>
          <p:cNvPr id="286" name="Google Shape;286;p22"/>
          <p:cNvGrpSpPr/>
          <p:nvPr/>
        </p:nvGrpSpPr>
        <p:grpSpPr>
          <a:xfrm>
            <a:off x="1113756" y="7400121"/>
            <a:ext cx="11699388" cy="1721397"/>
            <a:chOff x="0" y="0"/>
            <a:chExt cx="3081300" cy="453369"/>
          </a:xfrm>
        </p:grpSpPr>
        <p:sp>
          <p:nvSpPr>
            <p:cNvPr id="287" name="Google Shape;287;p22"/>
            <p:cNvSpPr/>
            <p:nvPr/>
          </p:nvSpPr>
          <p:spPr>
            <a:xfrm>
              <a:off x="0" y="0"/>
              <a:ext cx="3081170" cy="453369"/>
            </a:xfrm>
            <a:custGeom>
              <a:avLst/>
              <a:gdLst/>
              <a:ahLst/>
              <a:cxnLst/>
              <a:rect l="l" t="t" r="r" b="b"/>
              <a:pathLst>
                <a:path w="3081170" h="453369" extrusionOk="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2"/>
            <p:cNvSpPr txBox="1"/>
            <p:nvPr/>
          </p:nvSpPr>
          <p:spPr>
            <a:xfrm>
              <a:off x="0" y="76200"/>
              <a:ext cx="3081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2993" b="1">
                  <a:solidFill>
                    <a:srgbClr val="FEA928"/>
                  </a:solidFill>
                </a:rPr>
                <a:t>Detection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</p:sp>
      <p:sp>
        <p:nvSpPr>
          <p:cNvPr id="294" name="Google Shape;294;p23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95" name="Google Shape;295;p23"/>
          <p:cNvGrpSpPr/>
          <p:nvPr/>
        </p:nvGrpSpPr>
        <p:grpSpPr>
          <a:xfrm>
            <a:off x="1113756" y="3530943"/>
            <a:ext cx="6453404" cy="1721385"/>
            <a:chOff x="0" y="0"/>
            <a:chExt cx="1699662" cy="453369"/>
          </a:xfrm>
        </p:grpSpPr>
        <p:sp>
          <p:nvSpPr>
            <p:cNvPr id="296" name="Google Shape;296;p23"/>
            <p:cNvSpPr/>
            <p:nvPr/>
          </p:nvSpPr>
          <p:spPr>
            <a:xfrm>
              <a:off x="0" y="0"/>
              <a:ext cx="1699662" cy="453369"/>
            </a:xfrm>
            <a:custGeom>
              <a:avLst/>
              <a:gdLst/>
              <a:ahLst/>
              <a:cxnLst/>
              <a:rect l="l" t="t" r="r" b="b"/>
              <a:pathLst>
                <a:path w="1699662" h="453369" extrusionOk="0">
                  <a:moveTo>
                    <a:pt x="26393" y="0"/>
                  </a:moveTo>
                  <a:lnTo>
                    <a:pt x="1673269" y="0"/>
                  </a:lnTo>
                  <a:cubicBezTo>
                    <a:pt x="1687846" y="0"/>
                    <a:pt x="1699662" y="11816"/>
                    <a:pt x="1699662" y="26393"/>
                  </a:cubicBezTo>
                  <a:lnTo>
                    <a:pt x="1699662" y="426976"/>
                  </a:lnTo>
                  <a:cubicBezTo>
                    <a:pt x="1699662" y="441552"/>
                    <a:pt x="1687846" y="453369"/>
                    <a:pt x="1673269" y="453369"/>
                  </a:cubicBezTo>
                  <a:lnTo>
                    <a:pt x="26393" y="453369"/>
                  </a:lnTo>
                  <a:cubicBezTo>
                    <a:pt x="11816" y="453369"/>
                    <a:pt x="0" y="441552"/>
                    <a:pt x="0" y="426976"/>
                  </a:cubicBezTo>
                  <a:lnTo>
                    <a:pt x="0" y="26393"/>
                  </a:lnTo>
                  <a:cubicBezTo>
                    <a:pt x="0" y="11816"/>
                    <a:pt x="11816" y="0"/>
                    <a:pt x="263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3"/>
            <p:cNvSpPr txBox="1"/>
            <p:nvPr/>
          </p:nvSpPr>
          <p:spPr>
            <a:xfrm>
              <a:off x="0" y="76200"/>
              <a:ext cx="1699662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Reduces d</a:t>
              </a:r>
              <a:r>
                <a:rPr lang="en-US" sz="2993" b="1">
                  <a:solidFill>
                    <a:srgbClr val="FEA928"/>
                  </a:solidFill>
                </a:rPr>
                <a:t>iagnosis </a:t>
              </a: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time </a:t>
              </a:r>
              <a:endParaRPr/>
            </a:p>
          </p:txBody>
        </p:sp>
      </p:grpSp>
      <p:sp>
        <p:nvSpPr>
          <p:cNvPr id="298" name="Google Shape;298;p23"/>
          <p:cNvSpPr txBox="1"/>
          <p:nvPr/>
        </p:nvSpPr>
        <p:spPr>
          <a:xfrm>
            <a:off x="1113756" y="1980779"/>
            <a:ext cx="3817888" cy="119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 </a:t>
            </a:r>
            <a:r>
              <a:rPr lang="en-US" sz="7597" b="1" i="0" u="none" strike="noStrike" cap="none">
                <a:solidFill>
                  <a:srgbClr val="ED32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299" name="Google Shape;299;p23"/>
          <p:cNvGrpSpPr/>
          <p:nvPr/>
        </p:nvGrpSpPr>
        <p:grpSpPr>
          <a:xfrm>
            <a:off x="7752018" y="3521418"/>
            <a:ext cx="3687818" cy="1721385"/>
            <a:chOff x="0" y="0"/>
            <a:chExt cx="971277" cy="453369"/>
          </a:xfrm>
        </p:grpSpPr>
        <p:sp>
          <p:nvSpPr>
            <p:cNvPr id="300" name="Google Shape;300;p23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8 Hours</a:t>
              </a:r>
              <a:endParaRPr/>
            </a:p>
          </p:txBody>
        </p:sp>
      </p:grpSp>
      <p:grpSp>
        <p:nvGrpSpPr>
          <p:cNvPr id="302" name="Google Shape;302;p23"/>
          <p:cNvGrpSpPr/>
          <p:nvPr/>
        </p:nvGrpSpPr>
        <p:grpSpPr>
          <a:xfrm>
            <a:off x="11620811" y="3504584"/>
            <a:ext cx="1191761" cy="1721385"/>
            <a:chOff x="0" y="0"/>
            <a:chExt cx="313880" cy="453369"/>
          </a:xfrm>
        </p:grpSpPr>
        <p:sp>
          <p:nvSpPr>
            <p:cNvPr id="303" name="Google Shape;303;p23"/>
            <p:cNvSpPr/>
            <p:nvPr/>
          </p:nvSpPr>
          <p:spPr>
            <a:xfrm>
              <a:off x="0" y="0"/>
              <a:ext cx="313880" cy="453369"/>
            </a:xfrm>
            <a:custGeom>
              <a:avLst/>
              <a:gdLst/>
              <a:ahLst/>
              <a:cxnLst/>
              <a:rect l="l" t="t" r="r" b="b"/>
              <a:pathLst>
                <a:path w="313880" h="453369" extrusionOk="0">
                  <a:moveTo>
                    <a:pt x="142916" y="0"/>
                  </a:moveTo>
                  <a:lnTo>
                    <a:pt x="170963" y="0"/>
                  </a:lnTo>
                  <a:cubicBezTo>
                    <a:pt x="208867" y="0"/>
                    <a:pt x="245218" y="15057"/>
                    <a:pt x="272020" y="41859"/>
                  </a:cubicBezTo>
                  <a:cubicBezTo>
                    <a:pt x="298822" y="68661"/>
                    <a:pt x="313880" y="105013"/>
                    <a:pt x="313880" y="142916"/>
                  </a:cubicBezTo>
                  <a:lnTo>
                    <a:pt x="313880" y="310452"/>
                  </a:lnTo>
                  <a:cubicBezTo>
                    <a:pt x="313880" y="389383"/>
                    <a:pt x="249894" y="453369"/>
                    <a:pt x="170963" y="453369"/>
                  </a:cubicBezTo>
                  <a:lnTo>
                    <a:pt x="142916" y="453369"/>
                  </a:lnTo>
                  <a:cubicBezTo>
                    <a:pt x="63986" y="453369"/>
                    <a:pt x="0" y="389383"/>
                    <a:pt x="0" y="310452"/>
                  </a:cubicBezTo>
                  <a:lnTo>
                    <a:pt x="0" y="142916"/>
                  </a:lnTo>
                  <a:cubicBezTo>
                    <a:pt x="0" y="63986"/>
                    <a:pt x="63986" y="0"/>
                    <a:pt x="142916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3"/>
            <p:cNvSpPr txBox="1"/>
            <p:nvPr/>
          </p:nvSpPr>
          <p:spPr>
            <a:xfrm>
              <a:off x="0" y="76200"/>
              <a:ext cx="313880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to</a:t>
              </a:r>
              <a:endParaRPr/>
            </a:p>
          </p:txBody>
        </p:sp>
      </p:grpSp>
      <p:grpSp>
        <p:nvGrpSpPr>
          <p:cNvPr id="305" name="Google Shape;305;p23"/>
          <p:cNvGrpSpPr/>
          <p:nvPr/>
        </p:nvGrpSpPr>
        <p:grpSpPr>
          <a:xfrm>
            <a:off x="12993547" y="3530943"/>
            <a:ext cx="3687818" cy="1721385"/>
            <a:chOff x="0" y="0"/>
            <a:chExt cx="971277" cy="453369"/>
          </a:xfrm>
        </p:grpSpPr>
        <p:sp>
          <p:nvSpPr>
            <p:cNvPr id="306" name="Google Shape;306;p23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10 Minutes</a:t>
              </a:r>
              <a:endParaRPr/>
            </a:p>
          </p:txBody>
        </p:sp>
      </p:grpSp>
      <p:grpSp>
        <p:nvGrpSpPr>
          <p:cNvPr id="308" name="Google Shape;308;p23"/>
          <p:cNvGrpSpPr/>
          <p:nvPr/>
        </p:nvGrpSpPr>
        <p:grpSpPr>
          <a:xfrm>
            <a:off x="1113756" y="5612061"/>
            <a:ext cx="6453404" cy="1721385"/>
            <a:chOff x="0" y="0"/>
            <a:chExt cx="1699662" cy="453369"/>
          </a:xfrm>
        </p:grpSpPr>
        <p:sp>
          <p:nvSpPr>
            <p:cNvPr id="309" name="Google Shape;309;p23"/>
            <p:cNvSpPr/>
            <p:nvPr/>
          </p:nvSpPr>
          <p:spPr>
            <a:xfrm>
              <a:off x="0" y="0"/>
              <a:ext cx="1699662" cy="453369"/>
            </a:xfrm>
            <a:custGeom>
              <a:avLst/>
              <a:gdLst/>
              <a:ahLst/>
              <a:cxnLst/>
              <a:rect l="l" t="t" r="r" b="b"/>
              <a:pathLst>
                <a:path w="1699662" h="453369" extrusionOk="0">
                  <a:moveTo>
                    <a:pt x="26393" y="0"/>
                  </a:moveTo>
                  <a:lnTo>
                    <a:pt x="1673269" y="0"/>
                  </a:lnTo>
                  <a:cubicBezTo>
                    <a:pt x="1687846" y="0"/>
                    <a:pt x="1699662" y="11816"/>
                    <a:pt x="1699662" y="26393"/>
                  </a:cubicBezTo>
                  <a:lnTo>
                    <a:pt x="1699662" y="426976"/>
                  </a:lnTo>
                  <a:cubicBezTo>
                    <a:pt x="1699662" y="441552"/>
                    <a:pt x="1687846" y="453369"/>
                    <a:pt x="1673269" y="453369"/>
                  </a:cubicBezTo>
                  <a:lnTo>
                    <a:pt x="26393" y="453369"/>
                  </a:lnTo>
                  <a:cubicBezTo>
                    <a:pt x="11816" y="453369"/>
                    <a:pt x="0" y="441552"/>
                    <a:pt x="0" y="426976"/>
                  </a:cubicBezTo>
                  <a:lnTo>
                    <a:pt x="0" y="26393"/>
                  </a:lnTo>
                  <a:cubicBezTo>
                    <a:pt x="0" y="11816"/>
                    <a:pt x="11816" y="0"/>
                    <a:pt x="263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3"/>
            <p:cNvSpPr txBox="1"/>
            <p:nvPr/>
          </p:nvSpPr>
          <p:spPr>
            <a:xfrm>
              <a:off x="0" y="76200"/>
              <a:ext cx="1699662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FEA928"/>
                  </a:solidFill>
                </a:rPr>
                <a:t>Improves Detection</a:t>
              </a:r>
              <a:endParaRPr/>
            </a:p>
          </p:txBody>
        </p:sp>
      </p:grpSp>
      <p:grpSp>
        <p:nvGrpSpPr>
          <p:cNvPr id="311" name="Google Shape;311;p23"/>
          <p:cNvGrpSpPr/>
          <p:nvPr/>
        </p:nvGrpSpPr>
        <p:grpSpPr>
          <a:xfrm>
            <a:off x="7752018" y="5602536"/>
            <a:ext cx="3687818" cy="1721385"/>
            <a:chOff x="0" y="0"/>
            <a:chExt cx="971277" cy="453369"/>
          </a:xfrm>
        </p:grpSpPr>
        <p:sp>
          <p:nvSpPr>
            <p:cNvPr id="312" name="Google Shape;312;p23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284B71"/>
                  </a:solidFill>
                </a:rPr>
                <a:t>Late</a:t>
              </a:r>
              <a:endParaRPr/>
            </a:p>
          </p:txBody>
        </p:sp>
      </p:grpSp>
      <p:grpSp>
        <p:nvGrpSpPr>
          <p:cNvPr id="314" name="Google Shape;314;p23"/>
          <p:cNvGrpSpPr/>
          <p:nvPr/>
        </p:nvGrpSpPr>
        <p:grpSpPr>
          <a:xfrm>
            <a:off x="11620811" y="5585702"/>
            <a:ext cx="1191761" cy="1721385"/>
            <a:chOff x="0" y="0"/>
            <a:chExt cx="313880" cy="453369"/>
          </a:xfrm>
        </p:grpSpPr>
        <p:sp>
          <p:nvSpPr>
            <p:cNvPr id="315" name="Google Shape;315;p23"/>
            <p:cNvSpPr/>
            <p:nvPr/>
          </p:nvSpPr>
          <p:spPr>
            <a:xfrm>
              <a:off x="0" y="0"/>
              <a:ext cx="313880" cy="453369"/>
            </a:xfrm>
            <a:custGeom>
              <a:avLst/>
              <a:gdLst/>
              <a:ahLst/>
              <a:cxnLst/>
              <a:rect l="l" t="t" r="r" b="b"/>
              <a:pathLst>
                <a:path w="313880" h="453369" extrusionOk="0">
                  <a:moveTo>
                    <a:pt x="142916" y="0"/>
                  </a:moveTo>
                  <a:lnTo>
                    <a:pt x="170963" y="0"/>
                  </a:lnTo>
                  <a:cubicBezTo>
                    <a:pt x="208867" y="0"/>
                    <a:pt x="245218" y="15057"/>
                    <a:pt x="272020" y="41859"/>
                  </a:cubicBezTo>
                  <a:cubicBezTo>
                    <a:pt x="298822" y="68661"/>
                    <a:pt x="313880" y="105013"/>
                    <a:pt x="313880" y="142916"/>
                  </a:cubicBezTo>
                  <a:lnTo>
                    <a:pt x="313880" y="310452"/>
                  </a:lnTo>
                  <a:cubicBezTo>
                    <a:pt x="313880" y="389383"/>
                    <a:pt x="249894" y="453369"/>
                    <a:pt x="170963" y="453369"/>
                  </a:cubicBezTo>
                  <a:lnTo>
                    <a:pt x="142916" y="453369"/>
                  </a:lnTo>
                  <a:cubicBezTo>
                    <a:pt x="63986" y="453369"/>
                    <a:pt x="0" y="389383"/>
                    <a:pt x="0" y="310452"/>
                  </a:cubicBezTo>
                  <a:lnTo>
                    <a:pt x="0" y="142916"/>
                  </a:lnTo>
                  <a:cubicBezTo>
                    <a:pt x="0" y="63986"/>
                    <a:pt x="63986" y="0"/>
                    <a:pt x="142916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3"/>
            <p:cNvSpPr txBox="1"/>
            <p:nvPr/>
          </p:nvSpPr>
          <p:spPr>
            <a:xfrm>
              <a:off x="0" y="76200"/>
              <a:ext cx="313880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to</a:t>
              </a:r>
              <a:endParaRPr/>
            </a:p>
          </p:txBody>
        </p:sp>
      </p:grpSp>
      <p:grpSp>
        <p:nvGrpSpPr>
          <p:cNvPr id="317" name="Google Shape;317;p23"/>
          <p:cNvGrpSpPr/>
          <p:nvPr/>
        </p:nvGrpSpPr>
        <p:grpSpPr>
          <a:xfrm>
            <a:off x="12993547" y="5612061"/>
            <a:ext cx="3687818" cy="1721385"/>
            <a:chOff x="0" y="0"/>
            <a:chExt cx="971277" cy="453369"/>
          </a:xfrm>
        </p:grpSpPr>
        <p:sp>
          <p:nvSpPr>
            <p:cNvPr id="318" name="Google Shape;318;p23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284B71"/>
                  </a:solidFill>
                </a:rPr>
                <a:t>Early Stage Detection</a:t>
              </a:r>
              <a:endParaRPr/>
            </a:p>
          </p:txBody>
        </p:sp>
      </p:grpSp>
      <p:grpSp>
        <p:nvGrpSpPr>
          <p:cNvPr id="320" name="Google Shape;320;p23"/>
          <p:cNvGrpSpPr/>
          <p:nvPr/>
        </p:nvGrpSpPr>
        <p:grpSpPr>
          <a:xfrm>
            <a:off x="1113756" y="7693180"/>
            <a:ext cx="6453404" cy="1721385"/>
            <a:chOff x="0" y="0"/>
            <a:chExt cx="1699662" cy="453369"/>
          </a:xfrm>
        </p:grpSpPr>
        <p:sp>
          <p:nvSpPr>
            <p:cNvPr id="321" name="Google Shape;321;p23"/>
            <p:cNvSpPr/>
            <p:nvPr/>
          </p:nvSpPr>
          <p:spPr>
            <a:xfrm>
              <a:off x="0" y="0"/>
              <a:ext cx="1699662" cy="453369"/>
            </a:xfrm>
            <a:custGeom>
              <a:avLst/>
              <a:gdLst/>
              <a:ahLst/>
              <a:cxnLst/>
              <a:rect l="l" t="t" r="r" b="b"/>
              <a:pathLst>
                <a:path w="1699662" h="453369" extrusionOk="0">
                  <a:moveTo>
                    <a:pt x="26393" y="0"/>
                  </a:moveTo>
                  <a:lnTo>
                    <a:pt x="1673269" y="0"/>
                  </a:lnTo>
                  <a:cubicBezTo>
                    <a:pt x="1687846" y="0"/>
                    <a:pt x="1699662" y="11816"/>
                    <a:pt x="1699662" y="26393"/>
                  </a:cubicBezTo>
                  <a:lnTo>
                    <a:pt x="1699662" y="426976"/>
                  </a:lnTo>
                  <a:cubicBezTo>
                    <a:pt x="1699662" y="441552"/>
                    <a:pt x="1687846" y="453369"/>
                    <a:pt x="1673269" y="453369"/>
                  </a:cubicBezTo>
                  <a:lnTo>
                    <a:pt x="26393" y="453369"/>
                  </a:lnTo>
                  <a:cubicBezTo>
                    <a:pt x="11816" y="453369"/>
                    <a:pt x="0" y="441552"/>
                    <a:pt x="0" y="426976"/>
                  </a:cubicBezTo>
                  <a:lnTo>
                    <a:pt x="0" y="26393"/>
                  </a:lnTo>
                  <a:cubicBezTo>
                    <a:pt x="0" y="11816"/>
                    <a:pt x="11816" y="0"/>
                    <a:pt x="263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3"/>
            <p:cNvSpPr txBox="1"/>
            <p:nvPr/>
          </p:nvSpPr>
          <p:spPr>
            <a:xfrm>
              <a:off x="0" y="76200"/>
              <a:ext cx="1699662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FEA928"/>
                  </a:solidFill>
                </a:rPr>
                <a:t>Accessibility</a:t>
              </a:r>
              <a:endParaRPr/>
            </a:p>
          </p:txBody>
        </p:sp>
      </p:grpSp>
      <p:grpSp>
        <p:nvGrpSpPr>
          <p:cNvPr id="323" name="Google Shape;323;p23"/>
          <p:cNvGrpSpPr/>
          <p:nvPr/>
        </p:nvGrpSpPr>
        <p:grpSpPr>
          <a:xfrm>
            <a:off x="7752018" y="7683655"/>
            <a:ext cx="3687818" cy="1721385"/>
            <a:chOff x="0" y="0"/>
            <a:chExt cx="971277" cy="453369"/>
          </a:xfrm>
        </p:grpSpPr>
        <p:sp>
          <p:nvSpPr>
            <p:cNvPr id="324" name="Google Shape;324;p23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284B71"/>
                  </a:solidFill>
                </a:rPr>
                <a:t>Manual Diagnosis</a:t>
              </a:r>
              <a:endParaRPr/>
            </a:p>
          </p:txBody>
        </p:sp>
      </p:grpSp>
      <p:grpSp>
        <p:nvGrpSpPr>
          <p:cNvPr id="326" name="Google Shape;326;p23"/>
          <p:cNvGrpSpPr/>
          <p:nvPr/>
        </p:nvGrpSpPr>
        <p:grpSpPr>
          <a:xfrm>
            <a:off x="11620811" y="7666821"/>
            <a:ext cx="1191761" cy="1721385"/>
            <a:chOff x="0" y="0"/>
            <a:chExt cx="313880" cy="453369"/>
          </a:xfrm>
        </p:grpSpPr>
        <p:sp>
          <p:nvSpPr>
            <p:cNvPr id="327" name="Google Shape;327;p23"/>
            <p:cNvSpPr/>
            <p:nvPr/>
          </p:nvSpPr>
          <p:spPr>
            <a:xfrm>
              <a:off x="0" y="0"/>
              <a:ext cx="313880" cy="453369"/>
            </a:xfrm>
            <a:custGeom>
              <a:avLst/>
              <a:gdLst/>
              <a:ahLst/>
              <a:cxnLst/>
              <a:rect l="l" t="t" r="r" b="b"/>
              <a:pathLst>
                <a:path w="313880" h="453369" extrusionOk="0">
                  <a:moveTo>
                    <a:pt x="142916" y="0"/>
                  </a:moveTo>
                  <a:lnTo>
                    <a:pt x="170963" y="0"/>
                  </a:lnTo>
                  <a:cubicBezTo>
                    <a:pt x="208867" y="0"/>
                    <a:pt x="245218" y="15057"/>
                    <a:pt x="272020" y="41859"/>
                  </a:cubicBezTo>
                  <a:cubicBezTo>
                    <a:pt x="298822" y="68661"/>
                    <a:pt x="313880" y="105013"/>
                    <a:pt x="313880" y="142916"/>
                  </a:cubicBezTo>
                  <a:lnTo>
                    <a:pt x="313880" y="310452"/>
                  </a:lnTo>
                  <a:cubicBezTo>
                    <a:pt x="313880" y="389383"/>
                    <a:pt x="249894" y="453369"/>
                    <a:pt x="170963" y="453369"/>
                  </a:cubicBezTo>
                  <a:lnTo>
                    <a:pt x="142916" y="453369"/>
                  </a:lnTo>
                  <a:cubicBezTo>
                    <a:pt x="63986" y="453369"/>
                    <a:pt x="0" y="389383"/>
                    <a:pt x="0" y="310452"/>
                  </a:cubicBezTo>
                  <a:lnTo>
                    <a:pt x="0" y="142916"/>
                  </a:lnTo>
                  <a:cubicBezTo>
                    <a:pt x="0" y="63986"/>
                    <a:pt x="63986" y="0"/>
                    <a:pt x="142916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3"/>
            <p:cNvSpPr txBox="1"/>
            <p:nvPr/>
          </p:nvSpPr>
          <p:spPr>
            <a:xfrm>
              <a:off x="0" y="76200"/>
              <a:ext cx="313880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to</a:t>
              </a:r>
              <a:endParaRPr/>
            </a:p>
          </p:txBody>
        </p:sp>
      </p:grpSp>
      <p:grpSp>
        <p:nvGrpSpPr>
          <p:cNvPr id="329" name="Google Shape;329;p23"/>
          <p:cNvGrpSpPr/>
          <p:nvPr/>
        </p:nvGrpSpPr>
        <p:grpSpPr>
          <a:xfrm>
            <a:off x="12993547" y="7693180"/>
            <a:ext cx="3687818" cy="1721385"/>
            <a:chOff x="0" y="0"/>
            <a:chExt cx="971277" cy="453369"/>
          </a:xfrm>
        </p:grpSpPr>
        <p:sp>
          <p:nvSpPr>
            <p:cNvPr id="330" name="Google Shape;330;p23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>
                  <a:solidFill>
                    <a:srgbClr val="284B71"/>
                  </a:solidFill>
                </a:rPr>
                <a:t>AI-based System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394</Words>
  <Application>Microsoft Office PowerPoint</Application>
  <PresentationFormat>Custom</PresentationFormat>
  <Paragraphs>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Pooja L Dematti</cp:lastModifiedBy>
  <cp:revision>2</cp:revision>
  <dcterms:modified xsi:type="dcterms:W3CDTF">2026-04-15T09:09:42Z</dcterms:modified>
</cp:coreProperties>
</file>